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embeddedFontLst>
    <p:embeddedFont>
      <p:font typeface="DM Sans Semi Bold"/>
      <p:regular r:id="rId13"/>
    </p:embeddedFont>
    <p:embeddedFont>
      <p:font typeface="DM Sans Semi Bold"/>
      <p:regular r:id="rId14"/>
    </p:embeddedFont>
    <p:embeddedFont>
      <p:font typeface="DM Sans Semi Bold"/>
      <p:regular r:id="rId15"/>
    </p:embeddedFont>
    <p:embeddedFont>
      <p:font typeface="DM Sans Semi Bold"/>
      <p:regular r:id="rId16"/>
    </p:embeddedFont>
    <p:embeddedFont>
      <p:font typeface="Inter Medium"/>
      <p:regular r:id="rId17"/>
    </p:embeddedFont>
    <p:embeddedFont>
      <p:font typeface="Inter Medium"/>
      <p:regular r:id="rId18"/>
    </p:embeddedFont>
    <p:embeddedFont>
      <p:font typeface="Inter Medium"/>
      <p:regular r:id="rId19"/>
    </p:embeddedFont>
    <p:embeddedFont>
      <p:font typeface="Inter Medium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Relationship Id="rId19" Type="http://schemas.openxmlformats.org/officeDocument/2006/relationships/font" Target="fonts/font7.fntdata"/><Relationship Id="rId20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1654373"/>
            <a:ext cx="2340248" cy="233214"/>
          </a:xfrm>
          <a:prstGeom prst="roundRect">
            <a:avLst>
              <a:gd name="adj" fmla="val 6383"/>
            </a:avLst>
          </a:prstGeom>
          <a:solidFill>
            <a:srgbClr val="D4F7EC"/>
          </a:solidFill>
          <a:ln/>
        </p:spPr>
      </p:sp>
      <p:sp>
        <p:nvSpPr>
          <p:cNvPr id="4" name="Text 1"/>
          <p:cNvSpPr/>
          <p:nvPr/>
        </p:nvSpPr>
        <p:spPr>
          <a:xfrm>
            <a:off x="3999533" y="1691580"/>
            <a:ext cx="2648620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PROJETO INTEGRADO DE CIÊNCIA DE DADOS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3925119" y="1937147"/>
            <a:ext cx="445048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Inflação Brasileira em Foco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925119" y="2374255"/>
            <a:ext cx="479487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Machine Learning aplicado à previsão de inflação no Brasil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925119" y="2754139"/>
            <a:ext cx="5179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A6ED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CRISP-DM · Etapas 5 e 6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Grupo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CTRL + ALT + DELAS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925119" y="3092128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Maria Eduarda Cortellini · Giovanna Fogaça · Karen Arwen · Beatriz Antunes · Luiz Fernando · Daniele Tavares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17379" y="353318"/>
            <a:ext cx="1347267" cy="237827"/>
          </a:xfrm>
          <a:prstGeom prst="roundRect">
            <a:avLst>
              <a:gd name="adj" fmla="val 6161"/>
            </a:avLst>
          </a:prstGeom>
          <a:noFill/>
          <a:ln w="4763">
            <a:solidFill>
              <a:srgbClr val="1C977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995365" y="394692"/>
            <a:ext cx="1648495" cy="155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CONTEXTO E PROBLEMA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3917379" y="639217"/>
            <a:ext cx="4738241" cy="763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O Desafio: Prever a Inflação Brasileira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917379" y="1582489"/>
            <a:ext cx="4738241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inflação impacta diretamente a vida de </a:t>
            </a:r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215 milhões de brasileiros</a:t>
            </a:r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desde o orçamento familiar até decisões de investimento e planejamento estratégico de empresas. A pergunta central deste projeto é: </a:t>
            </a:r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é possível prever inflação alta com indicadores macroeconômicos?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917379" y="2493094"/>
            <a:ext cx="2308994" cy="1282303"/>
          </a:xfrm>
          <a:prstGeom prst="roundRect">
            <a:avLst>
              <a:gd name="adj" fmla="val 1428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4039419" y="2615133"/>
            <a:ext cx="198350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Pergunta de Negócio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039419" y="2877964"/>
            <a:ext cx="2064916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Podemos prever se o IPCA mensal será </a:t>
            </a:r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Alto (&gt;0,5%)</a:t>
            </a:r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ou </a:t>
            </a:r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Baixo (≤0,5%)</a:t>
            </a:r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usando indicadores macroeconômicos históricos?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346552" y="2493094"/>
            <a:ext cx="2309068" cy="1282303"/>
          </a:xfrm>
          <a:prstGeom prst="roundRect">
            <a:avLst>
              <a:gd name="adj" fmla="val 1428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6468591" y="2615133"/>
            <a:ext cx="198350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Por Que Importa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68591" y="2877964"/>
            <a:ext cx="2064990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Decisões de política monetária, investimentos e planejamento empresarial dependem de previsões confiáveis de inflação.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917379" y="3895576"/>
            <a:ext cx="4738241" cy="894606"/>
          </a:xfrm>
          <a:prstGeom prst="roundRect">
            <a:avLst>
              <a:gd name="adj" fmla="val 2047"/>
            </a:avLst>
          </a:prstGeom>
          <a:solidFill>
            <a:srgbClr val="F2EEEE"/>
          </a:solidFill>
          <a:ln/>
        </p:spPr>
      </p:sp>
      <p:sp>
        <p:nvSpPr>
          <p:cNvPr id="14" name="Text 11"/>
          <p:cNvSpPr/>
          <p:nvPr/>
        </p:nvSpPr>
        <p:spPr>
          <a:xfrm>
            <a:off x="4039419" y="4017615"/>
            <a:ext cx="198350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Dataset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039419" y="4280446"/>
            <a:ext cx="4494163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30 anos de dados</a:t>
            </a:r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(1995–2025), com </a:t>
            </a:r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11 variáveis macroeconômicas</a:t>
            </a:r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e classificação binária do IPCA mensal.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15145" y="276002"/>
            <a:ext cx="553343" cy="126950"/>
          </a:xfrm>
          <a:prstGeom prst="roundRect">
            <a:avLst>
              <a:gd name="adj" fmla="val 7328"/>
            </a:avLst>
          </a:prstGeom>
          <a:solidFill>
            <a:srgbClr val="D4F7EC"/>
          </a:solidFill>
          <a:ln/>
        </p:spPr>
      </p:sp>
      <p:sp>
        <p:nvSpPr>
          <p:cNvPr id="3" name="Text 1"/>
          <p:cNvSpPr/>
          <p:nvPr/>
        </p:nvSpPr>
        <p:spPr>
          <a:xfrm>
            <a:off x="1561654" y="299219"/>
            <a:ext cx="917525" cy="8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METODOLOGIA</a:t>
            </a:r>
            <a:endParaRPr lang="en-US" sz="450" dirty="0"/>
          </a:p>
        </p:txBody>
      </p:sp>
      <p:sp>
        <p:nvSpPr>
          <p:cNvPr id="4" name="Text 2"/>
          <p:cNvSpPr/>
          <p:nvPr/>
        </p:nvSpPr>
        <p:spPr>
          <a:xfrm>
            <a:off x="1515145" y="422300"/>
            <a:ext cx="4088755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Como Resolvemos: CRISP-DM em Ação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515145" y="737220"/>
            <a:ext cx="6113711" cy="201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 projeto seguiu a metodologia </a:t>
            </a:r>
            <a:pPr algn="l" indent="0" marL="0">
              <a:lnSpc>
                <a:spcPct val="108000"/>
              </a:lnSpc>
              <a:buNone/>
            </a:pPr>
            <a:r>
              <a:rPr lang="en-US" sz="6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CRISP-DM</a:t>
            </a:r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com foco nas </a:t>
            </a:r>
            <a:pPr algn="l" indent="0" marL="0">
              <a:lnSpc>
                <a:spcPct val="108000"/>
              </a:lnSpc>
              <a:buNone/>
            </a:pPr>
            <a:r>
              <a:rPr lang="en-US" sz="600" b="1" dirty="0">
                <a:solidFill>
                  <a:srgbClr val="5A6ED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etapas 5 (Validação) e 6 (Apresentação)</a:t>
            </a:r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 As etapas anteriores — entendimento do negócio, dos dados, preparação e modelagem — foram concluídas previamente.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1459260" y="993204"/>
            <a:ext cx="3074045" cy="980777"/>
          </a:xfrm>
          <a:prstGeom prst="roundRect">
            <a:avLst>
              <a:gd name="adj" fmla="val 1186"/>
            </a:avLst>
          </a:prstGeom>
          <a:solidFill>
            <a:srgbClr val="5A6ED8"/>
          </a:solidFill>
          <a:ln/>
        </p:spPr>
      </p:sp>
      <p:sp>
        <p:nvSpPr>
          <p:cNvPr id="7" name="Text 5"/>
          <p:cNvSpPr/>
          <p:nvPr/>
        </p:nvSpPr>
        <p:spPr>
          <a:xfrm>
            <a:off x="1536725" y="1041648"/>
            <a:ext cx="1426294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Algoritmo Escolhido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536725" y="1211163"/>
            <a:ext cx="3376315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" b="1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Random Forest Classifier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1536725" y="1355527"/>
            <a:ext cx="2919115" cy="453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8000"/>
              </a:lnSpc>
              <a:buSzPct val="100000"/>
              <a:buChar char="•"/>
            </a:pPr>
            <a:r>
              <a:rPr lang="en-US" sz="6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100 árvores de decisão</a:t>
            </a:r>
            <a:endParaRPr lang="en-US" sz="600" dirty="0"/>
          </a:p>
          <a:p>
            <a:pPr algn="l" marL="342900" indent="-342900">
              <a:lnSpc>
                <a:spcPct val="108000"/>
              </a:lnSpc>
              <a:buSzPct val="100000"/>
              <a:buChar char="•"/>
            </a:pPr>
            <a:r>
              <a:rPr lang="en-US" sz="6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Profundidade máxima: 10</a:t>
            </a:r>
            <a:endParaRPr lang="en-US" sz="600" dirty="0"/>
          </a:p>
          <a:p>
            <a:pPr algn="l" marL="342900" indent="-342900">
              <a:lnSpc>
                <a:spcPct val="108000"/>
              </a:lnSpc>
              <a:buSzPct val="100000"/>
              <a:buChar char="•"/>
            </a:pPr>
            <a:r>
              <a:rPr lang="en-US" sz="6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Classificação binária</a:t>
            </a:r>
            <a:endParaRPr lang="en-US" sz="600" dirty="0"/>
          </a:p>
          <a:p>
            <a:pPr algn="l" marL="342900" indent="-342900">
              <a:lnSpc>
                <a:spcPct val="108000"/>
              </a:lnSpc>
              <a:buSzPct val="100000"/>
              <a:buChar char="•"/>
            </a:pPr>
            <a:r>
              <a:rPr lang="en-US" sz="6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Split: 80% treino / 20% teste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4671343" y="1041648"/>
            <a:ext cx="1601093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Por Que Random Forest?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671343" y="1211163"/>
            <a:ext cx="2962275" cy="302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 Random Forest combina múltiplas árvores de decisão para reduzir overfitting e capturar relações não lineares entre variáveis macroeconômicas — ideal para dados econômicos complexos e ruidosos.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4671343" y="1567904"/>
            <a:ext cx="2962275" cy="351606"/>
          </a:xfrm>
          <a:prstGeom prst="roundRect">
            <a:avLst>
              <a:gd name="adj" fmla="val 3307"/>
            </a:avLst>
          </a:prstGeom>
          <a:solidFill>
            <a:srgbClr val="B6D6FC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8808" y="1673126"/>
            <a:ext cx="96887" cy="7746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923160" y="1635696"/>
            <a:ext cx="2632993" cy="201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variável alvo é binária: </a:t>
            </a:r>
            <a:pPr algn="l" indent="0" marL="0">
              <a:lnSpc>
                <a:spcPct val="108000"/>
              </a:lnSpc>
              <a:buNone/>
            </a:pPr>
            <a:r>
              <a:rPr lang="en-US" sz="600" b="1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Alta</a:t>
            </a:r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(IPCA &gt; 0,5%) ou </a:t>
            </a:r>
            <a:pPr algn="l" indent="0" marL="0">
              <a:lnSpc>
                <a:spcPct val="108000"/>
              </a:lnSpc>
              <a:buNone/>
            </a:pPr>
            <a:r>
              <a:rPr lang="en-US" sz="600" b="1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Baixa</a:t>
            </a:r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(IPCA ≤ 0,5%), simplificando o problema para classificação supervisionada.</a:t>
            </a:r>
            <a:endParaRPr lang="en-US" sz="6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145" y="2028453"/>
            <a:ext cx="6113711" cy="268374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323670" y="3882246"/>
            <a:ext cx="1300272" cy="165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Etapas 1–4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2552270" y="4094961"/>
            <a:ext cx="1071672" cy="322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Entendimento, Dados, Preparação, Modelagem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5332595" y="3841028"/>
            <a:ext cx="1300272" cy="165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Apresentação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5561195" y="4053743"/>
            <a:ext cx="1071672" cy="322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Insights, Recomendações, Conclusão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3836965" y="2309883"/>
            <a:ext cx="1300272" cy="165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Validação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065565" y="2522599"/>
            <a:ext cx="1071672" cy="322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Métricas, Matriz de Confusão, Overfitting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515145" y="4766667"/>
            <a:ext cx="6570911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 pipeline CRISP-DM foi executado de forma iterativa, garantindo rastreabilidade e reprodutibilidade científica em todas as etapas do projeto.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349" y="343570"/>
            <a:ext cx="732904" cy="209178"/>
          </a:xfrm>
          <a:prstGeom prst="roundRect">
            <a:avLst>
              <a:gd name="adj" fmla="val 6560"/>
            </a:avLst>
          </a:prstGeom>
          <a:solidFill>
            <a:srgbClr val="D4F7EC"/>
          </a:solidFill>
          <a:ln/>
        </p:spPr>
      </p:sp>
      <p:sp>
        <p:nvSpPr>
          <p:cNvPr id="3" name="Text 1"/>
          <p:cNvSpPr/>
          <p:nvPr/>
        </p:nvSpPr>
        <p:spPr>
          <a:xfrm>
            <a:off x="525959" y="377875"/>
            <a:ext cx="1052885" cy="140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RESULTADOS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349" y="594866"/>
            <a:ext cx="4321001" cy="357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O Que os Números Mostram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457349" y="1110332"/>
            <a:ext cx="8229302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As métricas de avaliação revelam um modelo com desempenho moderado: acerta mais do que o aleatório, mas apresenta </a:t>
            </a:r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FF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recall crítico de apenas 24,44%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perdendo a maioria dos alertas de inflação alta.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349" y="1699096"/>
            <a:ext cx="3975199" cy="222609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16214" y="1685925"/>
            <a:ext cx="2733824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Matriz de Confusão — 368 Meses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16214" y="1983135"/>
            <a:ext cx="3975199" cy="954658"/>
          </a:xfrm>
          <a:prstGeom prst="roundRect">
            <a:avLst>
              <a:gd name="adj" fmla="val 179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35723" y="2055912"/>
            <a:ext cx="1547813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159698" y="2055912"/>
            <a:ext cx="1545431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Previsto Baixa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481292" y="2055912"/>
            <a:ext cx="1547813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Previsto Alta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835723" y="2372544"/>
            <a:ext cx="1547813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Real Baixa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159698" y="2372544"/>
            <a:ext cx="1545431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✅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200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481292" y="2372544"/>
            <a:ext cx="1547813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⚠️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33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835723" y="2689175"/>
            <a:ext cx="1547813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Real Alta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159698" y="2689175"/>
            <a:ext cx="1545431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❌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102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481292" y="2689175"/>
            <a:ext cx="1547813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✅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33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716214" y="3056334"/>
            <a:ext cx="3975199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5A6ED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200 acertos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em meses de inflação baixa · </a:t>
            </a:r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5A6ED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33 acertos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em meses críticos · </a:t>
            </a:r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FF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102 alertas perdidos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· </a:t>
            </a:r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FF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33 alarmes falsos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57349" y="4162276"/>
            <a:ext cx="8229302" cy="637654"/>
          </a:xfrm>
          <a:prstGeom prst="roundRect">
            <a:avLst>
              <a:gd name="adj" fmla="val 2690"/>
            </a:avLst>
          </a:prstGeom>
          <a:solidFill>
            <a:srgbClr val="FCF2B5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649" y="4328964"/>
            <a:ext cx="142875" cy="1143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28824" y="4296221"/>
            <a:ext cx="7743527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Overfitting detectado: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Gap de </a:t>
            </a:r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18 pontos percentuais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entre treino (81%) e teste (63%) — sinal de que o modelo memorizou padrões do treino em vez de generalizar.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837381"/>
            <a:ext cx="628204" cy="242739"/>
          </a:xfrm>
          <a:prstGeom prst="roundRect">
            <a:avLst>
              <a:gd name="adj" fmla="val 6132"/>
            </a:avLst>
          </a:prstGeom>
          <a:noFill/>
          <a:ln w="4763">
            <a:solidFill>
              <a:srgbClr val="1C9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5295" y="879351"/>
            <a:ext cx="927050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INSIGHTS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129680"/>
            <a:ext cx="4432846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Traduzindo para o Negócio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96119" y="1703263"/>
            <a:ext cx="4013895" cy="1140172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1831" y="1703263"/>
            <a:ext cx="57150" cy="1140172"/>
          </a:xfrm>
          <a:prstGeom prst="roundRect">
            <a:avLst>
              <a:gd name="adj" fmla="val 32558"/>
            </a:avLst>
          </a:prstGeom>
          <a:solidFill>
            <a:srgbClr val="1C9770"/>
          </a:solidFill>
          <a:ln/>
        </p:spPr>
      </p:sp>
      <p:sp>
        <p:nvSpPr>
          <p:cNvPr id="7" name="Text 5"/>
          <p:cNvSpPr/>
          <p:nvPr/>
        </p:nvSpPr>
        <p:spPr>
          <a:xfrm>
            <a:off x="677242" y="1841525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 A Boa Notícia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77242" y="2109788"/>
            <a:ext cx="3694509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 modelo acerta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6 em cada 10 previsões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superando uma estratégia aleatória. A accuracy de 63,32% indica capacidade preditiva real sobre o comportamento do IPCA.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33987" y="1703263"/>
            <a:ext cx="4013895" cy="1140172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9699" y="1703263"/>
            <a:ext cx="57150" cy="1140172"/>
          </a:xfrm>
          <a:prstGeom prst="roundRect">
            <a:avLst>
              <a:gd name="adj" fmla="val 32558"/>
            </a:avLst>
          </a:prstGeom>
          <a:solidFill>
            <a:srgbClr val="1C9770"/>
          </a:solidFill>
          <a:ln/>
        </p:spPr>
      </p:sp>
      <p:sp>
        <p:nvSpPr>
          <p:cNvPr id="11" name="Text 9"/>
          <p:cNvSpPr/>
          <p:nvPr/>
        </p:nvSpPr>
        <p:spPr>
          <a:xfrm>
            <a:off x="4815111" y="1841525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 A Má Notícia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15111" y="2109788"/>
            <a:ext cx="3694509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 modelo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perde 75% dos alertas reais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de inflação alta. Em linguagem simples: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cada 4 meses críticos, alertamos apenas 1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risco inaceitável para decisões financeiras.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6119" y="2967410"/>
            <a:ext cx="4013895" cy="1338635"/>
          </a:xfrm>
          <a:prstGeom prst="roundRect">
            <a:avLst>
              <a:gd name="adj" fmla="val 5123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1831" y="2967410"/>
            <a:ext cx="57150" cy="1338635"/>
          </a:xfrm>
          <a:prstGeom prst="roundRect">
            <a:avLst>
              <a:gd name="adj" fmla="val 32558"/>
            </a:avLst>
          </a:prstGeom>
          <a:solidFill>
            <a:srgbClr val="1C9770"/>
          </a:solidFill>
          <a:ln/>
        </p:spPr>
      </p:sp>
      <p:sp>
        <p:nvSpPr>
          <p:cNvPr id="15" name="Text 13"/>
          <p:cNvSpPr/>
          <p:nvPr/>
        </p:nvSpPr>
        <p:spPr>
          <a:xfrm>
            <a:off x="677242" y="3105671"/>
            <a:ext cx="236287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📊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 Variável Mais Influente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7242" y="3373934"/>
            <a:ext cx="3694509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 câmbio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USD/BRL liderou com 26,8%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das decisões do modelo. Justificativa econômica sólida: o Brasil depende fortemente de importações, e a desvalorização do real eleva preços ao consumidor rapidamente.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33987" y="2967410"/>
            <a:ext cx="4013895" cy="1338635"/>
          </a:xfrm>
          <a:prstGeom prst="roundRect">
            <a:avLst>
              <a:gd name="adj" fmla="val 5123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9699" y="2967410"/>
            <a:ext cx="57150" cy="1338635"/>
          </a:xfrm>
          <a:prstGeom prst="roundRect">
            <a:avLst>
              <a:gd name="adj" fmla="val 32558"/>
            </a:avLst>
          </a:prstGeom>
          <a:solidFill>
            <a:srgbClr val="1C9770"/>
          </a:solidFill>
          <a:ln/>
        </p:spPr>
      </p:sp>
      <p:sp>
        <p:nvSpPr>
          <p:cNvPr id="19" name="Text 17"/>
          <p:cNvSpPr/>
          <p:nvPr/>
        </p:nvSpPr>
        <p:spPr>
          <a:xfrm>
            <a:off x="4815111" y="3105671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🔍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 Veredito Final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15111" y="3373934"/>
            <a:ext cx="3694509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 modelo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não está pronto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para suportar decisões financeiras críticas. Funciona como prova de conceito, mas exige melhorias significativas antes de qualquer aplicação prática.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4132" y="386804"/>
            <a:ext cx="959272" cy="195263"/>
          </a:xfrm>
          <a:prstGeom prst="roundRect">
            <a:avLst>
              <a:gd name="adj" fmla="val 6670"/>
            </a:avLst>
          </a:prstGeom>
          <a:solidFill>
            <a:srgbClr val="D4F7EC"/>
          </a:solidFill>
          <a:ln/>
        </p:spPr>
      </p:sp>
      <p:sp>
        <p:nvSpPr>
          <p:cNvPr id="3" name="Text 1"/>
          <p:cNvSpPr/>
          <p:nvPr/>
        </p:nvSpPr>
        <p:spPr>
          <a:xfrm>
            <a:off x="499244" y="419323"/>
            <a:ext cx="1286247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PRÓXIMOS PASSOS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34132" y="620018"/>
            <a:ext cx="4314751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Recomendações e Conclusão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4132" y="1101626"/>
            <a:ext cx="827573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 projeto cumpre seu papel como </a:t>
            </a:r>
            <a:pPr algn="l" indent="0" marL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prova de conceito acadêmica</a:t>
            </a:r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com pipeline ML completo validado e documentado. Os próximos passos estruturam a evolução do modelo em três horizontes de maturidade.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34132" y="2520255"/>
            <a:ext cx="8275737" cy="14288"/>
          </a:xfrm>
          <a:prstGeom prst="roundRect">
            <a:avLst>
              <a:gd name="adj" fmla="val 113950"/>
            </a:avLst>
          </a:prstGeom>
          <a:solidFill>
            <a:srgbClr val="D8D4D4"/>
          </a:solidFill>
          <a:ln/>
        </p:spPr>
      </p:sp>
      <p:sp>
        <p:nvSpPr>
          <p:cNvPr id="7" name="Shape 5"/>
          <p:cNvSpPr/>
          <p:nvPr/>
        </p:nvSpPr>
        <p:spPr>
          <a:xfrm>
            <a:off x="2466156" y="2194731"/>
            <a:ext cx="14288" cy="325562"/>
          </a:xfrm>
          <a:prstGeom prst="roundRect">
            <a:avLst>
              <a:gd name="adj" fmla="val 113950"/>
            </a:avLst>
          </a:prstGeom>
          <a:solidFill>
            <a:srgbClr val="D8D4D4"/>
          </a:solidFill>
          <a:ln/>
        </p:spPr>
      </p:sp>
      <p:sp>
        <p:nvSpPr>
          <p:cNvPr id="8" name="Shape 6"/>
          <p:cNvSpPr/>
          <p:nvPr/>
        </p:nvSpPr>
        <p:spPr>
          <a:xfrm>
            <a:off x="2351261" y="2398179"/>
            <a:ext cx="244153" cy="24415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2163328" y="2418494"/>
            <a:ext cx="39134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1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566416" y="1534046"/>
            <a:ext cx="15853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Curto Prazo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2627" y="1760488"/>
            <a:ext cx="3861495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Aplicar </a:t>
            </a:r>
            <a:pPr algn="ctr" indent="0" marL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SMOTE</a:t>
            </a:r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para balanceamento de classes, reduzir profundidade das árvores e implementar </a:t>
            </a:r>
            <a:pPr algn="ctr" indent="0" marL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cross-validation</a:t>
            </a:r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para mitigar overfitting.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64707" y="2520218"/>
            <a:ext cx="14288" cy="325562"/>
          </a:xfrm>
          <a:prstGeom prst="roundRect">
            <a:avLst>
              <a:gd name="adj" fmla="val 113950"/>
            </a:avLst>
          </a:prstGeom>
          <a:solidFill>
            <a:srgbClr val="D8D4D4"/>
          </a:solidFill>
          <a:ln/>
        </p:spPr>
      </p:sp>
      <p:sp>
        <p:nvSpPr>
          <p:cNvPr id="13" name="Shape 11"/>
          <p:cNvSpPr/>
          <p:nvPr/>
        </p:nvSpPr>
        <p:spPr>
          <a:xfrm>
            <a:off x="4449812" y="2398179"/>
            <a:ext cx="244153" cy="24415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4261879" y="2418494"/>
            <a:ext cx="39134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664967" y="2954387"/>
            <a:ext cx="15853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Médio Prazo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641178" y="3180829"/>
            <a:ext cx="3861569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Testar algoritmos boosting (</a:t>
            </a:r>
            <a:pPr algn="ctr" indent="0" marL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XGBoost, LightGBM</a:t>
            </a:r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) e criar features temporais como médias móveis de 3 e 6 meses para capturar tendências.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663333" y="2194731"/>
            <a:ext cx="14288" cy="325562"/>
          </a:xfrm>
          <a:prstGeom prst="roundRect">
            <a:avLst>
              <a:gd name="adj" fmla="val 113950"/>
            </a:avLst>
          </a:prstGeom>
          <a:solidFill>
            <a:srgbClr val="D8D4D4"/>
          </a:solidFill>
          <a:ln/>
        </p:spPr>
      </p:sp>
      <p:sp>
        <p:nvSpPr>
          <p:cNvPr id="18" name="Shape 16"/>
          <p:cNvSpPr/>
          <p:nvPr/>
        </p:nvSpPr>
        <p:spPr>
          <a:xfrm>
            <a:off x="6548437" y="2398179"/>
            <a:ext cx="244153" cy="24415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9" name="Text 17"/>
          <p:cNvSpPr/>
          <p:nvPr/>
        </p:nvSpPr>
        <p:spPr>
          <a:xfrm>
            <a:off x="6360505" y="2418494"/>
            <a:ext cx="39134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3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763592" y="1534046"/>
            <a:ext cx="15853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Longo Prazo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39804" y="1760488"/>
            <a:ext cx="3861569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Incorporar dados qualitativos (análise de notícias, expectativas de mercado) e estabelecer </a:t>
            </a:r>
            <a:pPr algn="ctr" indent="0" marL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retraining mensal</a:t>
            </a:r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automático do pipeline.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55997" y="3613249"/>
            <a:ext cx="4161755" cy="1143446"/>
          </a:xfrm>
          <a:prstGeom prst="roundRect">
            <a:avLst>
              <a:gd name="adj" fmla="val 1424"/>
            </a:avLst>
          </a:prstGeom>
          <a:solidFill>
            <a:srgbClr val="5A6ED8"/>
          </a:solidFill>
          <a:ln/>
        </p:spPr>
      </p:sp>
      <p:sp>
        <p:nvSpPr>
          <p:cNvPr id="23" name="Text 21"/>
          <p:cNvSpPr/>
          <p:nvPr/>
        </p:nvSpPr>
        <p:spPr>
          <a:xfrm>
            <a:off x="464493" y="3708202"/>
            <a:ext cx="1852538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Conclusão do Projeto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4493" y="3972669"/>
            <a:ext cx="3944764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 grupo </a:t>
            </a:r>
            <a:pPr algn="l" indent="0" marL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CTRL + ALT + DELAS</a:t>
            </a:r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demonstrou domínio do ciclo CRISP-DM completo, aplicando Random Forest em dados macroeconômicos reais com avaliação rigorosa. O trabalho serve como base sólida para pesquisas futuras em previsão de inflação com ML.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09145" y="3708202"/>
            <a:ext cx="222795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Contribuições Acadêmicas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09145" y="3972669"/>
            <a:ext cx="4005486" cy="750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Pipeline ML reprodutível e documentado</a:t>
            </a:r>
            <a:endParaRPr lang="en-US" sz="85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Análise crítica de métricas com viés econômico</a:t>
            </a:r>
            <a:endParaRPr lang="en-US" sz="85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Identificação do câmbio como driver principal</a:t>
            </a:r>
            <a:endParaRPr lang="en-US" sz="85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Diagnóstico transparente de limitações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2026-05-15T19:54:50Z</dcterms:created>
  <dcterms:modified xsi:type="dcterms:W3CDTF">2026-05-15T19:54:50Z</dcterms:modified>
</cp:coreProperties>
</file>