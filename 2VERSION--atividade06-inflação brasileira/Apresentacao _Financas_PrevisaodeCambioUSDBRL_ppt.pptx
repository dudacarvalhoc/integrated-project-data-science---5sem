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</p:sldIdLst>
  <p:sldSz cx="18288000" cy="10287000"/>
  <p:notesSz cx="6858000" cy="9144000"/>
  <p:embeddedFontLst>
    <p:embeddedFont>
      <p:font typeface="TT Hoves Bold" charset="1" panose="02000003020000060003"/>
      <p:regular r:id="rId17"/>
    </p:embeddedFont>
    <p:embeddedFont>
      <p:font typeface="TT Hoves" charset="1" panose="02000003020000060003"/>
      <p:regular r:id="rId18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fonts/font17.fntdata" Type="http://schemas.openxmlformats.org/officeDocument/2006/relationships/font"/><Relationship Id="rId18" Target="fonts/font18.fntdata" Type="http://schemas.openxmlformats.org/officeDocument/2006/relationships/font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2.pn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png" Type="http://schemas.openxmlformats.org/officeDocument/2006/relationships/image"/><Relationship Id="rId3" Target="../media/image6.png" Type="http://schemas.openxmlformats.org/officeDocument/2006/relationships/image"/><Relationship Id="rId4" Target="../media/image7.svg" Type="http://schemas.openxmlformats.org/officeDocument/2006/relationships/image"/><Relationship Id="rId5" Target="../media/image8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png" Type="http://schemas.openxmlformats.org/officeDocument/2006/relationships/image"/><Relationship Id="rId3" Target="../media/image9.png" Type="http://schemas.openxmlformats.org/officeDocument/2006/relationships/image"/><Relationship Id="rId4" Target="../media/image10.svg" Type="http://schemas.openxmlformats.org/officeDocument/2006/relationships/image"/><Relationship Id="rId5" Target="../media/image11.png" Type="http://schemas.openxmlformats.org/officeDocument/2006/relationships/image"/><Relationship Id="rId6" Target="../media/image12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3.png" Type="http://schemas.openxmlformats.org/officeDocument/2006/relationships/image"/><Relationship Id="rId3" Target="../media/image14.svg" Type="http://schemas.openxmlformats.org/officeDocument/2006/relationships/image"/><Relationship Id="rId4" Target="../media/image5.png" Type="http://schemas.openxmlformats.org/officeDocument/2006/relationships/image"/><Relationship Id="rId5" Target="../media/image15.png" Type="http://schemas.openxmlformats.org/officeDocument/2006/relationships/image"/><Relationship Id="rId6" Target="../media/image16.png" Type="http://schemas.openxmlformats.org/officeDocument/2006/relationships/image"/><Relationship Id="rId7" Target="../media/image17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png" Type="http://schemas.openxmlformats.org/officeDocument/2006/relationships/image"/><Relationship Id="rId3" Target="../media/image18.png" Type="http://schemas.openxmlformats.org/officeDocument/2006/relationships/image"/><Relationship Id="rId4" Target="../media/image19.svg" Type="http://schemas.openxmlformats.org/officeDocument/2006/relationships/image"/><Relationship Id="rId5" Target="../media/image20.png" Type="http://schemas.openxmlformats.org/officeDocument/2006/relationships/image"/><Relationship Id="rId6" Target="../media/image21.svg" Type="http://schemas.openxmlformats.org/officeDocument/2006/relationships/image"/><Relationship Id="rId7" Target="../media/image22.png" Type="http://schemas.openxmlformats.org/officeDocument/2006/relationships/image"/><Relationship Id="rId8" Target="../media/image23.svg" Type="http://schemas.openxmlformats.org/officeDocument/2006/relationships/image"/><Relationship Id="rId9" Target="../media/image24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png" Type="http://schemas.openxmlformats.org/officeDocument/2006/relationships/image"/><Relationship Id="rId3" Target="../media/image25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6.png" Type="http://schemas.openxmlformats.org/officeDocument/2006/relationships/image"/><Relationship Id="rId3" Target="../media/image27.svg" Type="http://schemas.openxmlformats.org/officeDocument/2006/relationships/image"/><Relationship Id="rId4" Target="../media/image5.png" Type="http://schemas.openxmlformats.org/officeDocument/2006/relationships/image"/><Relationship Id="rId5" Target="../media/image28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png" Type="http://schemas.openxmlformats.org/officeDocument/2006/relationships/image"/><Relationship Id="rId3" Target="../media/image29.png" Type="http://schemas.openxmlformats.org/officeDocument/2006/relationships/image"/><Relationship Id="rId4" Target="../media/image30.pn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png" Type="http://schemas.openxmlformats.org/officeDocument/2006/relationships/image"/><Relationship Id="rId3" Target="../media/image22.png" Type="http://schemas.openxmlformats.org/officeDocument/2006/relationships/image"/><Relationship Id="rId4" Target="../media/image23.svg" Type="http://schemas.openxmlformats.org/officeDocument/2006/relationships/image"/><Relationship Id="rId5" Target="../media/image31.pn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png" Type="http://schemas.openxmlformats.org/officeDocument/2006/relationships/image"/><Relationship Id="rId3" Target="../media/image22.png" Type="http://schemas.openxmlformats.org/officeDocument/2006/relationships/image"/><Relationship Id="rId4" Target="../media/image23.svg" Type="http://schemas.openxmlformats.org/officeDocument/2006/relationships/image"/><Relationship Id="rId5" Target="../media/image18.png" Type="http://schemas.openxmlformats.org/officeDocument/2006/relationships/image"/><Relationship Id="rId6" Target="../media/image19.sv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5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9222" r="0" b="-9222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1028700" y="1028700"/>
            <a:ext cx="16230600" cy="8229600"/>
            <a:chOff x="0" y="0"/>
            <a:chExt cx="4274726" cy="2167467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4274726" cy="2167467"/>
            </a:xfrm>
            <a:custGeom>
              <a:avLst/>
              <a:gdLst/>
              <a:ahLst/>
              <a:cxnLst/>
              <a:rect r="r" b="b" t="t" l="l"/>
              <a:pathLst>
                <a:path h="2167467" w="4274726">
                  <a:moveTo>
                    <a:pt x="17172" y="0"/>
                  </a:moveTo>
                  <a:lnTo>
                    <a:pt x="4257554" y="0"/>
                  </a:lnTo>
                  <a:cubicBezTo>
                    <a:pt x="4267038" y="0"/>
                    <a:pt x="4274726" y="7688"/>
                    <a:pt x="4274726" y="17172"/>
                  </a:cubicBezTo>
                  <a:lnTo>
                    <a:pt x="4274726" y="2150295"/>
                  </a:lnTo>
                  <a:cubicBezTo>
                    <a:pt x="4274726" y="2159779"/>
                    <a:pt x="4267038" y="2167467"/>
                    <a:pt x="4257554" y="2167467"/>
                  </a:cubicBezTo>
                  <a:lnTo>
                    <a:pt x="17172" y="2167467"/>
                  </a:lnTo>
                  <a:cubicBezTo>
                    <a:pt x="7688" y="2167467"/>
                    <a:pt x="0" y="2159779"/>
                    <a:pt x="0" y="2150295"/>
                  </a:cubicBezTo>
                  <a:lnTo>
                    <a:pt x="0" y="17172"/>
                  </a:lnTo>
                  <a:cubicBezTo>
                    <a:pt x="0" y="7688"/>
                    <a:pt x="7688" y="0"/>
                    <a:pt x="17172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000000">
                    <a:alpha val="70000"/>
                  </a:srgbClr>
                </a:gs>
                <a:gs pos="100000">
                  <a:srgbClr val="33CD91">
                    <a:alpha val="70000"/>
                  </a:srgbClr>
                </a:gs>
              </a:gsLst>
              <a:lin ang="0"/>
            </a:gradFill>
            <a:ln w="47625" cap="rnd">
              <a:solidFill>
                <a:srgbClr val="BEC2C7">
                  <a:alpha val="69804"/>
                </a:srgbClr>
              </a:solidFill>
              <a:prstDash val="solid"/>
              <a:round/>
            </a:ln>
          </p:spPr>
        </p:sp>
        <p:sp>
          <p:nvSpPr>
            <p:cNvPr name="TextBox 5" id="5"/>
            <p:cNvSpPr txBox="true"/>
            <p:nvPr/>
          </p:nvSpPr>
          <p:spPr>
            <a:xfrm>
              <a:off x="0" y="-47625"/>
              <a:ext cx="4274726" cy="221509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6" id="6"/>
          <p:cNvSpPr/>
          <p:nvPr/>
        </p:nvSpPr>
        <p:spPr>
          <a:xfrm flipH="false" flipV="false" rot="0">
            <a:off x="1258056" y="1764147"/>
            <a:ext cx="762000" cy="640080"/>
          </a:xfrm>
          <a:custGeom>
            <a:avLst/>
            <a:gdLst/>
            <a:ahLst/>
            <a:cxnLst/>
            <a:rect r="r" b="b" t="t" l="l"/>
            <a:pathLst>
              <a:path h="640080" w="762000">
                <a:moveTo>
                  <a:pt x="0" y="0"/>
                </a:moveTo>
                <a:lnTo>
                  <a:pt x="762000" y="0"/>
                </a:lnTo>
                <a:lnTo>
                  <a:pt x="762000" y="640080"/>
                </a:lnTo>
                <a:lnTo>
                  <a:pt x="0" y="64008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1392128" y="8370535"/>
            <a:ext cx="627929" cy="627929"/>
          </a:xfrm>
          <a:custGeom>
            <a:avLst/>
            <a:gdLst/>
            <a:ahLst/>
            <a:cxnLst/>
            <a:rect r="r" b="b" t="t" l="l"/>
            <a:pathLst>
              <a:path h="627929" w="627929">
                <a:moveTo>
                  <a:pt x="0" y="0"/>
                </a:moveTo>
                <a:lnTo>
                  <a:pt x="627928" y="0"/>
                </a:lnTo>
                <a:lnTo>
                  <a:pt x="627928" y="627928"/>
                </a:lnTo>
                <a:lnTo>
                  <a:pt x="0" y="62792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1176998" y="3682575"/>
            <a:ext cx="12819379" cy="354250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4218"/>
              </a:lnSpc>
            </a:pPr>
            <a:r>
              <a:rPr lang="en-US" sz="10156" b="true">
                <a:solidFill>
                  <a:srgbClr val="FFFFFF"/>
                </a:solidFill>
                <a:latin typeface="TT Hoves Bold"/>
                <a:ea typeface="TT Hoves Bold"/>
                <a:cs typeface="TT Hoves Bold"/>
                <a:sym typeface="TT Hoves Bold"/>
              </a:rPr>
              <a:t>Previsão do Câmbio USD/BRL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2064553" y="1904165"/>
            <a:ext cx="3023038" cy="3657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40"/>
              </a:lnSpc>
            </a:pPr>
            <a:r>
              <a:rPr lang="en-US" sz="2100" spc="54">
                <a:solidFill>
                  <a:srgbClr val="FFFFFF"/>
                </a:solidFill>
                <a:latin typeface="TT Hoves"/>
                <a:ea typeface="TT Hoves"/>
                <a:cs typeface="TT Hoves"/>
                <a:sym typeface="TT Hoves"/>
              </a:rPr>
              <a:t>Grupo CTRL ALT DELAS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7586687" y="1718427"/>
            <a:ext cx="1954522" cy="7372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40"/>
              </a:lnSpc>
            </a:pPr>
            <a:r>
              <a:rPr lang="en-US" sz="2100" spc="54">
                <a:solidFill>
                  <a:srgbClr val="FFFFFF"/>
                </a:solidFill>
                <a:latin typeface="TT Hoves"/>
                <a:ea typeface="TT Hoves"/>
                <a:cs typeface="TT Hoves"/>
                <a:sym typeface="TT Hoves"/>
              </a:rPr>
              <a:t>Daniele - 52420099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9541209" y="1747002"/>
            <a:ext cx="1954522" cy="7372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40"/>
              </a:lnSpc>
            </a:pPr>
            <a:r>
              <a:rPr lang="en-US" sz="2100" spc="54">
                <a:solidFill>
                  <a:srgbClr val="FFFFFF"/>
                </a:solidFill>
                <a:latin typeface="TT Hoves"/>
                <a:ea typeface="TT Hoves"/>
                <a:cs typeface="TT Hoves"/>
                <a:sym typeface="TT Hoves"/>
              </a:rPr>
              <a:t>Giovanna F - 52421068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1543356" y="1766052"/>
            <a:ext cx="1954522" cy="7372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40"/>
              </a:lnSpc>
            </a:pPr>
            <a:r>
              <a:rPr lang="en-US" sz="2100" spc="54">
                <a:solidFill>
                  <a:srgbClr val="FFFFFF"/>
                </a:solidFill>
                <a:latin typeface="TT Hoves"/>
                <a:ea typeface="TT Hoves"/>
                <a:cs typeface="TT Hoves"/>
                <a:sym typeface="TT Hoves"/>
              </a:rPr>
              <a:t>Karen - 52420075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3235642" y="1766052"/>
            <a:ext cx="1954522" cy="7372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40"/>
              </a:lnSpc>
            </a:pPr>
            <a:r>
              <a:rPr lang="en-US" sz="2100" spc="54">
                <a:solidFill>
                  <a:srgbClr val="FFFFFF"/>
                </a:solidFill>
                <a:latin typeface="TT Hoves"/>
                <a:ea typeface="TT Hoves"/>
                <a:cs typeface="TT Hoves"/>
                <a:sym typeface="TT Hoves"/>
              </a:rPr>
              <a:t>Luiz - </a:t>
            </a:r>
          </a:p>
          <a:p>
            <a:pPr algn="ctr">
              <a:lnSpc>
                <a:spcPts val="2940"/>
              </a:lnSpc>
            </a:pPr>
            <a:r>
              <a:rPr lang="en-US" sz="2100" spc="54">
                <a:solidFill>
                  <a:srgbClr val="FFFFFF"/>
                </a:solidFill>
                <a:latin typeface="TT Hoves"/>
                <a:ea typeface="TT Hoves"/>
                <a:cs typeface="TT Hoves"/>
                <a:sym typeface="TT Hoves"/>
              </a:rPr>
              <a:t>52421183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5632165" y="1718427"/>
            <a:ext cx="1954522" cy="7372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40"/>
              </a:lnSpc>
            </a:pPr>
            <a:r>
              <a:rPr lang="en-US" sz="2100" spc="54">
                <a:solidFill>
                  <a:srgbClr val="FFFFFF"/>
                </a:solidFill>
                <a:latin typeface="TT Hoves"/>
                <a:ea typeface="TT Hoves"/>
                <a:cs typeface="TT Hoves"/>
                <a:sym typeface="TT Hoves"/>
              </a:rPr>
              <a:t>Beatriz - 52420663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5171114" y="1785102"/>
            <a:ext cx="1954522" cy="7372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40"/>
              </a:lnSpc>
            </a:pPr>
            <a:r>
              <a:rPr lang="en-US" sz="2100" spc="54">
                <a:solidFill>
                  <a:srgbClr val="FFFFFF"/>
                </a:solidFill>
                <a:latin typeface="TT Hoves"/>
                <a:ea typeface="TT Hoves"/>
                <a:cs typeface="TT Hoves"/>
                <a:sym typeface="TT Hoves"/>
              </a:rPr>
              <a:t>MºEduarda- </a:t>
            </a:r>
          </a:p>
          <a:p>
            <a:pPr algn="ctr">
              <a:lnSpc>
                <a:spcPts val="2940"/>
              </a:lnSpc>
            </a:pPr>
            <a:r>
              <a:rPr lang="en-US" sz="2100" spc="54">
                <a:solidFill>
                  <a:srgbClr val="FFFFFF"/>
                </a:solidFill>
                <a:latin typeface="TT Hoves"/>
                <a:ea typeface="TT Hoves"/>
                <a:cs typeface="TT Hoves"/>
                <a:sym typeface="TT Hoves"/>
              </a:rPr>
              <a:t>52420167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41A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-27760"/>
            <a:ext cx="8343913" cy="11375203"/>
            <a:chOff x="0" y="0"/>
            <a:chExt cx="2197574" cy="2995938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197574" cy="2995938"/>
            </a:xfrm>
            <a:custGeom>
              <a:avLst/>
              <a:gdLst/>
              <a:ahLst/>
              <a:cxnLst/>
              <a:rect r="r" b="b" t="t" l="l"/>
              <a:pathLst>
                <a:path h="2995938" w="2197574">
                  <a:moveTo>
                    <a:pt x="0" y="0"/>
                  </a:moveTo>
                  <a:lnTo>
                    <a:pt x="2197574" y="0"/>
                  </a:lnTo>
                  <a:lnTo>
                    <a:pt x="2197574" y="2995938"/>
                  </a:lnTo>
                  <a:lnTo>
                    <a:pt x="0" y="2995938"/>
                  </a:lnTo>
                  <a:close/>
                </a:path>
              </a:pathLst>
            </a:custGeom>
            <a:gradFill rotWithShape="true">
              <a:gsLst>
                <a:gs pos="0">
                  <a:srgbClr val="000000">
                    <a:alpha val="100000"/>
                  </a:srgbClr>
                </a:gs>
                <a:gs pos="100000">
                  <a:srgbClr val="33CD91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4" id="4"/>
            <p:cNvSpPr txBox="true"/>
            <p:nvPr/>
          </p:nvSpPr>
          <p:spPr>
            <a:xfrm>
              <a:off x="0" y="-47625"/>
              <a:ext cx="2197574" cy="304356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40"/>
                </a:lnSpc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16878300" y="708660"/>
            <a:ext cx="762000" cy="640080"/>
          </a:xfrm>
          <a:custGeom>
            <a:avLst/>
            <a:gdLst/>
            <a:ahLst/>
            <a:cxnLst/>
            <a:rect r="r" b="b" t="t" l="l"/>
            <a:pathLst>
              <a:path h="640080" w="762000">
                <a:moveTo>
                  <a:pt x="0" y="0"/>
                </a:moveTo>
                <a:lnTo>
                  <a:pt x="762000" y="0"/>
                </a:lnTo>
                <a:lnTo>
                  <a:pt x="762000" y="640080"/>
                </a:lnTo>
                <a:lnTo>
                  <a:pt x="0" y="64008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1184394">
            <a:off x="14174609" y="3257549"/>
            <a:ext cx="8379362" cy="8089893"/>
          </a:xfrm>
          <a:custGeom>
            <a:avLst/>
            <a:gdLst/>
            <a:ahLst/>
            <a:cxnLst/>
            <a:rect r="r" b="b" t="t" l="l"/>
            <a:pathLst>
              <a:path h="8089893" w="8379362">
                <a:moveTo>
                  <a:pt x="0" y="0"/>
                </a:moveTo>
                <a:lnTo>
                  <a:pt x="8379362" y="0"/>
                </a:lnTo>
                <a:lnTo>
                  <a:pt x="8379362" y="8089893"/>
                </a:lnTo>
                <a:lnTo>
                  <a:pt x="0" y="8089893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281471" y="2080180"/>
            <a:ext cx="8062442" cy="5946115"/>
          </a:xfrm>
          <a:custGeom>
            <a:avLst/>
            <a:gdLst/>
            <a:ahLst/>
            <a:cxnLst/>
            <a:rect r="r" b="b" t="t" l="l"/>
            <a:pathLst>
              <a:path h="5946115" w="8062442">
                <a:moveTo>
                  <a:pt x="0" y="0"/>
                </a:moveTo>
                <a:lnTo>
                  <a:pt x="8062442" y="0"/>
                </a:lnTo>
                <a:lnTo>
                  <a:pt x="8062442" y="5946115"/>
                </a:lnTo>
                <a:lnTo>
                  <a:pt x="0" y="5946115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-16292" t="0" r="-16292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9144000" y="3169419"/>
            <a:ext cx="4802328" cy="152285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144"/>
              </a:lnSpc>
            </a:pPr>
            <a:r>
              <a:rPr lang="en-US" sz="4800">
                <a:solidFill>
                  <a:srgbClr val="75FF82"/>
                </a:solidFill>
                <a:latin typeface="TT Hoves"/>
                <a:ea typeface="TT Hoves"/>
                <a:cs typeface="TT Hoves"/>
                <a:sym typeface="TT Hoves"/>
              </a:rPr>
              <a:t>Problema e Objetivo: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9144000" y="5270047"/>
            <a:ext cx="7083553" cy="33375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53390" indent="-226695" lvl="1">
              <a:lnSpc>
                <a:spcPts val="2940"/>
              </a:lnSpc>
              <a:buFont typeface="Arial"/>
              <a:buChar char="•"/>
            </a:pPr>
            <a:r>
              <a:rPr lang="en-US" sz="2100">
                <a:solidFill>
                  <a:srgbClr val="FFFFFF"/>
                </a:solidFill>
                <a:latin typeface="TT Hoves"/>
                <a:ea typeface="TT Hoves"/>
                <a:cs typeface="TT Hoves"/>
                <a:sym typeface="TT Hoves"/>
              </a:rPr>
              <a:t>Pergunta: é possível prever o valor do dólar a partir de indicadores macro?</a:t>
            </a:r>
          </a:p>
          <a:p>
            <a:pPr algn="l" marL="453390" indent="-226695" lvl="1">
              <a:lnSpc>
                <a:spcPts val="2940"/>
              </a:lnSpc>
              <a:buFont typeface="Arial"/>
              <a:buChar char="•"/>
            </a:pPr>
            <a:r>
              <a:rPr lang="en-US" sz="2100">
                <a:solidFill>
                  <a:srgbClr val="FFFFFF"/>
                </a:solidFill>
                <a:latin typeface="TT Hoves"/>
                <a:ea typeface="TT Hoves"/>
                <a:cs typeface="TT Hoves"/>
                <a:sym typeface="TT Hoves"/>
              </a:rPr>
              <a:t>Alvo: usd_brl — uma variável contínua → problema de Regressão</a:t>
            </a:r>
          </a:p>
          <a:p>
            <a:pPr algn="l" marL="453390" indent="-226695" lvl="1">
              <a:lnSpc>
                <a:spcPts val="2940"/>
              </a:lnSpc>
              <a:buFont typeface="Arial"/>
              <a:buChar char="•"/>
            </a:pPr>
            <a:r>
              <a:rPr lang="en-US" sz="2100">
                <a:solidFill>
                  <a:srgbClr val="FFFFFF"/>
                </a:solidFill>
                <a:latin typeface="TT Hoves"/>
                <a:ea typeface="TT Hoves"/>
                <a:cs typeface="TT Hoves"/>
                <a:sym typeface="TT Hoves"/>
              </a:rPr>
              <a:t>Diferença-chave: regressão prevê número (R$ 5,12), não categoria (alta/baixa)</a:t>
            </a:r>
          </a:p>
          <a:p>
            <a:pPr algn="l" marL="453390" indent="-226695" lvl="1">
              <a:lnSpc>
                <a:spcPts val="2940"/>
              </a:lnSpc>
              <a:buFont typeface="Arial"/>
              <a:buChar char="•"/>
            </a:pPr>
            <a:r>
              <a:rPr lang="en-US" sz="2100">
                <a:solidFill>
                  <a:srgbClr val="FFFFFF"/>
                </a:solidFill>
                <a:latin typeface="TT Hoves"/>
                <a:ea typeface="TT Hoves"/>
                <a:cs typeface="TT Hoves"/>
                <a:sym typeface="TT Hoves"/>
              </a:rPr>
              <a:t>Por isso usamos R², MAE, RMSE — e não matriz de confusão</a:t>
            </a:r>
          </a:p>
          <a:p>
            <a:pPr algn="l">
              <a:lnSpc>
                <a:spcPts val="2940"/>
              </a:lnSpc>
            </a:pP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41A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521058" y="1361174"/>
            <a:ext cx="762000" cy="640080"/>
          </a:xfrm>
          <a:custGeom>
            <a:avLst/>
            <a:gdLst/>
            <a:ahLst/>
            <a:cxnLst/>
            <a:rect r="r" b="b" t="t" l="l"/>
            <a:pathLst>
              <a:path h="640080" w="762000">
                <a:moveTo>
                  <a:pt x="0" y="0"/>
                </a:moveTo>
                <a:lnTo>
                  <a:pt x="762000" y="0"/>
                </a:lnTo>
                <a:lnTo>
                  <a:pt x="762000" y="640080"/>
                </a:lnTo>
                <a:lnTo>
                  <a:pt x="0" y="64008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028700" y="7931212"/>
            <a:ext cx="6005824" cy="622422"/>
          </a:xfrm>
          <a:custGeom>
            <a:avLst/>
            <a:gdLst/>
            <a:ahLst/>
            <a:cxnLst/>
            <a:rect r="r" b="b" t="t" l="l"/>
            <a:pathLst>
              <a:path h="622422" w="6005824">
                <a:moveTo>
                  <a:pt x="0" y="0"/>
                </a:moveTo>
                <a:lnTo>
                  <a:pt x="6005824" y="0"/>
                </a:lnTo>
                <a:lnTo>
                  <a:pt x="6005824" y="622421"/>
                </a:lnTo>
                <a:lnTo>
                  <a:pt x="0" y="622421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8137034" y="930646"/>
            <a:ext cx="9513411" cy="3536366"/>
          </a:xfrm>
          <a:custGeom>
            <a:avLst/>
            <a:gdLst/>
            <a:ahLst/>
            <a:cxnLst/>
            <a:rect r="r" b="b" t="t" l="l"/>
            <a:pathLst>
              <a:path h="3536366" w="9513411">
                <a:moveTo>
                  <a:pt x="0" y="0"/>
                </a:moveTo>
                <a:lnTo>
                  <a:pt x="9513411" y="0"/>
                </a:lnTo>
                <a:lnTo>
                  <a:pt x="9513411" y="3536366"/>
                </a:lnTo>
                <a:lnTo>
                  <a:pt x="0" y="3536366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-945" r="0" b="-945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7993541" y="4593733"/>
            <a:ext cx="9800398" cy="5316716"/>
          </a:xfrm>
          <a:custGeom>
            <a:avLst/>
            <a:gdLst/>
            <a:ahLst/>
            <a:cxnLst/>
            <a:rect r="r" b="b" t="t" l="l"/>
            <a:pathLst>
              <a:path h="5316716" w="9800398">
                <a:moveTo>
                  <a:pt x="0" y="0"/>
                </a:moveTo>
                <a:lnTo>
                  <a:pt x="9800398" y="0"/>
                </a:lnTo>
                <a:lnTo>
                  <a:pt x="9800398" y="5316716"/>
                </a:lnTo>
                <a:lnTo>
                  <a:pt x="0" y="5316716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1028700" y="3266096"/>
            <a:ext cx="5630713" cy="8115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719"/>
              </a:lnSpc>
            </a:pPr>
            <a:r>
              <a:rPr lang="en-US" sz="4800">
                <a:solidFill>
                  <a:srgbClr val="75FF82"/>
                </a:solidFill>
                <a:latin typeface="TT Hoves"/>
                <a:ea typeface="TT Hoves"/>
                <a:cs typeface="TT Hoves"/>
                <a:sym typeface="TT Hoves"/>
              </a:rPr>
              <a:t>A Base de Dados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23170" y="4419387"/>
            <a:ext cx="7441773" cy="25946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53390" indent="-226695" lvl="1">
              <a:lnSpc>
                <a:spcPts val="2940"/>
              </a:lnSpc>
              <a:buFont typeface="Arial"/>
              <a:buChar char="•"/>
            </a:pPr>
            <a:r>
              <a:rPr lang="en-US" sz="2100">
                <a:solidFill>
                  <a:srgbClr val="FFFFFF"/>
                </a:solidFill>
                <a:latin typeface="TT Hoves"/>
                <a:ea typeface="TT Hoves"/>
                <a:cs typeface="TT Hoves"/>
                <a:sym typeface="TT Hoves"/>
              </a:rPr>
              <a:t>Dataset: indicadores macroeconômicos do Brasil, 1995–2025</a:t>
            </a:r>
          </a:p>
          <a:p>
            <a:pPr algn="l" marL="453390" indent="-226695" lvl="1">
              <a:lnSpc>
                <a:spcPts val="2940"/>
              </a:lnSpc>
              <a:buFont typeface="Arial"/>
              <a:buChar char="•"/>
            </a:pPr>
            <a:r>
              <a:rPr lang="en-US" sz="2100">
                <a:solidFill>
                  <a:srgbClr val="FFFFFF"/>
                </a:solidFill>
                <a:latin typeface="TT Hoves"/>
                <a:ea typeface="TT Hoves"/>
                <a:cs typeface="TT Hoves"/>
                <a:sym typeface="TT Hoves"/>
              </a:rPr>
              <a:t>~8.400 registros após limpeza</a:t>
            </a:r>
          </a:p>
          <a:p>
            <a:pPr algn="l" marL="453390" indent="-226695" lvl="1">
              <a:lnSpc>
                <a:spcPts val="2940"/>
              </a:lnSpc>
              <a:buFont typeface="Arial"/>
              <a:buChar char="•"/>
            </a:pPr>
            <a:r>
              <a:rPr lang="en-US" sz="2100">
                <a:solidFill>
                  <a:srgbClr val="FFFFFF"/>
                </a:solidFill>
                <a:latin typeface="TT Hoves"/>
                <a:ea typeface="TT Hoves"/>
                <a:cs typeface="TT Hoves"/>
                <a:sym typeface="TT Hoves"/>
              </a:rPr>
              <a:t>Variáveis preditoras (9): IPCA, Selic, PIB, desemprego, juros EUA, inflação EUA, exportações, importações, índice DXY</a:t>
            </a:r>
          </a:p>
          <a:p>
            <a:pPr algn="l" marL="453390" indent="-226695" lvl="1">
              <a:lnSpc>
                <a:spcPts val="2940"/>
              </a:lnSpc>
              <a:buFont typeface="Arial"/>
              <a:buChar char="•"/>
            </a:pPr>
            <a:r>
              <a:rPr lang="en-US" sz="2100">
                <a:solidFill>
                  <a:srgbClr val="FFFFFF"/>
                </a:solidFill>
                <a:latin typeface="TT Hoves"/>
                <a:ea typeface="TT Hoves"/>
                <a:cs typeface="TT Hoves"/>
                <a:sym typeface="TT Hoves"/>
              </a:rPr>
              <a:t>Alvo: cotação USD/BRL</a:t>
            </a:r>
          </a:p>
          <a:p>
            <a:pPr algn="l">
              <a:lnSpc>
                <a:spcPts val="2940"/>
              </a:lnSpc>
            </a:pP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41A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true" flipV="true" rot="5400000">
            <a:off x="12129887" y="-268564"/>
            <a:ext cx="4000278" cy="6145679"/>
          </a:xfrm>
          <a:custGeom>
            <a:avLst/>
            <a:gdLst/>
            <a:ahLst/>
            <a:cxnLst/>
            <a:rect r="r" b="b" t="t" l="l"/>
            <a:pathLst>
              <a:path h="6145679" w="4000278">
                <a:moveTo>
                  <a:pt x="4000278" y="6145678"/>
                </a:moveTo>
                <a:lnTo>
                  <a:pt x="0" y="6145678"/>
                </a:lnTo>
                <a:lnTo>
                  <a:pt x="0" y="0"/>
                </a:lnTo>
                <a:lnTo>
                  <a:pt x="4000278" y="0"/>
                </a:lnTo>
                <a:lnTo>
                  <a:pt x="4000278" y="6145678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028700" y="1028700"/>
            <a:ext cx="762000" cy="640080"/>
          </a:xfrm>
          <a:custGeom>
            <a:avLst/>
            <a:gdLst/>
            <a:ahLst/>
            <a:cxnLst/>
            <a:rect r="r" b="b" t="t" l="l"/>
            <a:pathLst>
              <a:path h="640080" w="762000">
                <a:moveTo>
                  <a:pt x="0" y="0"/>
                </a:moveTo>
                <a:lnTo>
                  <a:pt x="762000" y="0"/>
                </a:lnTo>
                <a:lnTo>
                  <a:pt x="762000" y="640080"/>
                </a:lnTo>
                <a:lnTo>
                  <a:pt x="0" y="64008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1996812" y="804136"/>
            <a:ext cx="4543218" cy="4000278"/>
          </a:xfrm>
          <a:custGeom>
            <a:avLst/>
            <a:gdLst/>
            <a:ahLst/>
            <a:cxnLst/>
            <a:rect r="r" b="b" t="t" l="l"/>
            <a:pathLst>
              <a:path h="4000278" w="4543218">
                <a:moveTo>
                  <a:pt x="0" y="0"/>
                </a:moveTo>
                <a:lnTo>
                  <a:pt x="4543217" y="0"/>
                </a:lnTo>
                <a:lnTo>
                  <a:pt x="4543217" y="4000278"/>
                </a:lnTo>
                <a:lnTo>
                  <a:pt x="0" y="4000278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7359269" y="4960872"/>
            <a:ext cx="5790479" cy="3102653"/>
          </a:xfrm>
          <a:custGeom>
            <a:avLst/>
            <a:gdLst/>
            <a:ahLst/>
            <a:cxnLst/>
            <a:rect r="r" b="b" t="t" l="l"/>
            <a:pathLst>
              <a:path h="3102653" w="5790479">
                <a:moveTo>
                  <a:pt x="0" y="0"/>
                </a:moveTo>
                <a:lnTo>
                  <a:pt x="5790479" y="0"/>
                </a:lnTo>
                <a:lnTo>
                  <a:pt x="5790479" y="3102653"/>
                </a:lnTo>
                <a:lnTo>
                  <a:pt x="0" y="3102653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-1034" r="0" b="-1034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1546995" y="6512198"/>
            <a:ext cx="6430389" cy="3594942"/>
          </a:xfrm>
          <a:custGeom>
            <a:avLst/>
            <a:gdLst/>
            <a:ahLst/>
            <a:cxnLst/>
            <a:rect r="r" b="b" t="t" l="l"/>
            <a:pathLst>
              <a:path h="3594942" w="6430389">
                <a:moveTo>
                  <a:pt x="0" y="0"/>
                </a:moveTo>
                <a:lnTo>
                  <a:pt x="6430388" y="0"/>
                </a:lnTo>
                <a:lnTo>
                  <a:pt x="6430388" y="3594942"/>
                </a:lnTo>
                <a:lnTo>
                  <a:pt x="0" y="3594942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1409700" y="3405685"/>
            <a:ext cx="7253966" cy="8115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719"/>
              </a:lnSpc>
            </a:pPr>
            <a:r>
              <a:rPr lang="en-US" sz="4800">
                <a:solidFill>
                  <a:srgbClr val="75FF82"/>
                </a:solidFill>
                <a:latin typeface="TT Hoves"/>
                <a:ea typeface="TT Hoves"/>
                <a:cs typeface="TT Hoves"/>
                <a:sym typeface="TT Hoves"/>
              </a:rPr>
              <a:t>Metodologia (CRISP-DM)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028700" y="5312457"/>
            <a:ext cx="6330569" cy="29660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53390" indent="-226695" lvl="1">
              <a:lnSpc>
                <a:spcPts val="2940"/>
              </a:lnSpc>
              <a:buFont typeface="Arial"/>
              <a:buChar char="•"/>
            </a:pPr>
            <a:r>
              <a:rPr lang="en-US" sz="2100">
                <a:solidFill>
                  <a:srgbClr val="FFFFFF"/>
                </a:solidFill>
                <a:latin typeface="TT Hoves"/>
                <a:ea typeface="TT Hoves"/>
                <a:cs typeface="TT Hoves"/>
                <a:sym typeface="TT Hoves"/>
              </a:rPr>
              <a:t>Seguimos o CRISP-DM (etapas 3 a 6)</a:t>
            </a:r>
          </a:p>
          <a:p>
            <a:pPr algn="l" marL="453390" indent="-226695" lvl="1">
              <a:lnSpc>
                <a:spcPts val="2940"/>
              </a:lnSpc>
              <a:buFont typeface="Arial"/>
              <a:buChar char="•"/>
            </a:pPr>
            <a:r>
              <a:rPr lang="en-US" sz="2100">
                <a:solidFill>
                  <a:srgbClr val="FFFFFF"/>
                </a:solidFill>
                <a:latin typeface="TT Hoves"/>
                <a:ea typeface="TT Hoves"/>
                <a:cs typeface="TT Hoves"/>
                <a:sym typeface="TT Hoves"/>
              </a:rPr>
              <a:t>Preparação: limpeza de nulos, normalização (StandardScaler), divisão treino/teste 80/20</a:t>
            </a:r>
          </a:p>
          <a:p>
            <a:pPr algn="l" marL="453390" indent="-226695" lvl="1">
              <a:lnSpc>
                <a:spcPts val="2940"/>
              </a:lnSpc>
              <a:buFont typeface="Arial"/>
              <a:buChar char="•"/>
            </a:pPr>
            <a:r>
              <a:rPr lang="en-US" sz="2100">
                <a:solidFill>
                  <a:srgbClr val="FFFFFF"/>
                </a:solidFill>
                <a:latin typeface="TT Hoves"/>
                <a:ea typeface="TT Hoves"/>
                <a:cs typeface="TT Hoves"/>
                <a:sym typeface="TT Hoves"/>
              </a:rPr>
              <a:t>Modelagem: Random Forest Regressor (200 árvores, profundidade 12)</a:t>
            </a:r>
          </a:p>
          <a:p>
            <a:pPr algn="l" marL="453390" indent="-226695" lvl="1">
              <a:lnSpc>
                <a:spcPts val="2940"/>
              </a:lnSpc>
              <a:buFont typeface="Arial"/>
              <a:buChar char="•"/>
            </a:pPr>
            <a:r>
              <a:rPr lang="en-US" sz="2100">
                <a:solidFill>
                  <a:srgbClr val="FFFFFF"/>
                </a:solidFill>
                <a:latin typeface="TT Hoves"/>
                <a:ea typeface="TT Hoves"/>
                <a:cs typeface="TT Hoves"/>
                <a:sym typeface="TT Hoves"/>
              </a:rPr>
              <a:t>Validação: métricas de regressão</a:t>
            </a:r>
          </a:p>
          <a:p>
            <a:pPr algn="l" marL="453390" indent="-226695" lvl="1">
              <a:lnSpc>
                <a:spcPts val="2940"/>
              </a:lnSpc>
              <a:buFont typeface="Arial"/>
              <a:buChar char="•"/>
            </a:pPr>
            <a:r>
              <a:rPr lang="en-US" sz="2100">
                <a:solidFill>
                  <a:srgbClr val="FFFFFF"/>
                </a:solidFill>
                <a:latin typeface="TT Hoves"/>
                <a:ea typeface="TT Hoves"/>
                <a:cs typeface="TT Hoves"/>
                <a:sym typeface="TT Hoves"/>
              </a:rPr>
              <a:t>Implantação: dashboard no Power BI</a:t>
            </a:r>
          </a:p>
          <a:p>
            <a:pPr algn="l">
              <a:lnSpc>
                <a:spcPts val="2940"/>
              </a:lnSpc>
            </a:pP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41A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028700" y="1028700"/>
            <a:ext cx="762000" cy="640080"/>
          </a:xfrm>
          <a:custGeom>
            <a:avLst/>
            <a:gdLst/>
            <a:ahLst/>
            <a:cxnLst/>
            <a:rect r="r" b="b" t="t" l="l"/>
            <a:pathLst>
              <a:path h="640080" w="762000">
                <a:moveTo>
                  <a:pt x="0" y="0"/>
                </a:moveTo>
                <a:lnTo>
                  <a:pt x="762000" y="0"/>
                </a:lnTo>
                <a:lnTo>
                  <a:pt x="762000" y="640080"/>
                </a:lnTo>
                <a:lnTo>
                  <a:pt x="0" y="64008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3796757" y="7280026"/>
            <a:ext cx="4491243" cy="1812829"/>
          </a:xfrm>
          <a:custGeom>
            <a:avLst/>
            <a:gdLst/>
            <a:ahLst/>
            <a:cxnLst/>
            <a:rect r="r" b="b" t="t" l="l"/>
            <a:pathLst>
              <a:path h="1812829" w="4491243">
                <a:moveTo>
                  <a:pt x="0" y="0"/>
                </a:moveTo>
                <a:lnTo>
                  <a:pt x="4491243" y="0"/>
                </a:lnTo>
                <a:lnTo>
                  <a:pt x="4491243" y="1812829"/>
                </a:lnTo>
                <a:lnTo>
                  <a:pt x="0" y="1812829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2818399" y="9258300"/>
            <a:ext cx="5469601" cy="904970"/>
          </a:xfrm>
          <a:custGeom>
            <a:avLst/>
            <a:gdLst/>
            <a:ahLst/>
            <a:cxnLst/>
            <a:rect r="r" b="b" t="t" l="l"/>
            <a:pathLst>
              <a:path h="904970" w="5469601">
                <a:moveTo>
                  <a:pt x="0" y="0"/>
                </a:moveTo>
                <a:lnTo>
                  <a:pt x="5469601" y="0"/>
                </a:lnTo>
                <a:lnTo>
                  <a:pt x="5469601" y="904970"/>
                </a:lnTo>
                <a:lnTo>
                  <a:pt x="0" y="904970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-507067">
            <a:off x="14985558" y="-2789491"/>
            <a:ext cx="7042553" cy="7042553"/>
          </a:xfrm>
          <a:custGeom>
            <a:avLst/>
            <a:gdLst/>
            <a:ahLst/>
            <a:cxnLst/>
            <a:rect r="r" b="b" t="t" l="l"/>
            <a:pathLst>
              <a:path h="7042553" w="7042553">
                <a:moveTo>
                  <a:pt x="0" y="0"/>
                </a:moveTo>
                <a:lnTo>
                  <a:pt x="7042553" y="0"/>
                </a:lnTo>
                <a:lnTo>
                  <a:pt x="7042553" y="7042553"/>
                </a:lnTo>
                <a:lnTo>
                  <a:pt x="0" y="7042553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205266" y="5670913"/>
            <a:ext cx="6204621" cy="3421943"/>
          </a:xfrm>
          <a:custGeom>
            <a:avLst/>
            <a:gdLst/>
            <a:ahLst/>
            <a:cxnLst/>
            <a:rect r="r" b="b" t="t" l="l"/>
            <a:pathLst>
              <a:path h="3421943" w="6204621">
                <a:moveTo>
                  <a:pt x="0" y="0"/>
                </a:moveTo>
                <a:lnTo>
                  <a:pt x="6204621" y="0"/>
                </a:lnTo>
                <a:lnTo>
                  <a:pt x="6204621" y="3421942"/>
                </a:lnTo>
                <a:lnTo>
                  <a:pt x="0" y="3421942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1028700" y="2395511"/>
            <a:ext cx="6073550" cy="16592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719"/>
              </a:lnSpc>
            </a:pPr>
            <a:r>
              <a:rPr lang="en-US" sz="4800">
                <a:solidFill>
                  <a:srgbClr val="75FF82"/>
                </a:solidFill>
                <a:latin typeface="TT Hoves"/>
                <a:ea typeface="TT Hoves"/>
                <a:cs typeface="TT Hoves"/>
                <a:sym typeface="TT Hoves"/>
              </a:rPr>
              <a:t>O Modelo: Random Forest Regressor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028700" y="4313387"/>
            <a:ext cx="6557752" cy="7372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40"/>
              </a:lnSpc>
            </a:pPr>
            <a:r>
              <a:rPr lang="en-US" sz="2100">
                <a:solidFill>
                  <a:srgbClr val="FFFFFF"/>
                </a:solidFill>
                <a:latin typeface="TT Hoves"/>
                <a:ea typeface="TT Hoves"/>
                <a:cs typeface="TT Hoves"/>
                <a:sym typeface="TT Hoves"/>
              </a:rPr>
              <a:t>Treino com 80% dos dados, teste com 20% (dados nunca vistos)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8479670" y="4860122"/>
            <a:ext cx="3953358" cy="7372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40"/>
              </a:lnSpc>
            </a:pPr>
            <a:r>
              <a:rPr lang="en-US" sz="2100">
                <a:solidFill>
                  <a:srgbClr val="FFFFFF"/>
                </a:solidFill>
                <a:latin typeface="TT Hoves"/>
                <a:ea typeface="TT Hoves"/>
                <a:cs typeface="TT Hoves"/>
                <a:sym typeface="TT Hoves"/>
              </a:rPr>
              <a:t> Random Forest (conjunto de árvores de decisão)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8479670" y="4313387"/>
            <a:ext cx="3953358" cy="3657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40"/>
              </a:lnSpc>
            </a:pPr>
            <a:r>
              <a:rPr lang="en-US" sz="2100">
                <a:solidFill>
                  <a:srgbClr val="75FF82"/>
                </a:solidFill>
                <a:latin typeface="TT Hoves"/>
                <a:ea typeface="TT Hoves"/>
                <a:cs typeface="TT Hoves"/>
                <a:sym typeface="TT Hoves"/>
              </a:rPr>
              <a:t>Algoritmo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8479670" y="2875571"/>
            <a:ext cx="3953358" cy="7372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40"/>
              </a:lnSpc>
            </a:pPr>
            <a:r>
              <a:rPr lang="en-US" sz="2100">
                <a:solidFill>
                  <a:srgbClr val="FFFFFF"/>
                </a:solidFill>
                <a:latin typeface="TT Hoves"/>
                <a:ea typeface="TT Hoves"/>
                <a:cs typeface="TT Hoves"/>
                <a:sym typeface="TT Hoves"/>
              </a:rPr>
              <a:t>Normalização para colocar todas as variáveis na mesma escala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8479670" y="2328836"/>
            <a:ext cx="3953358" cy="3657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40"/>
              </a:lnSpc>
            </a:pPr>
            <a:r>
              <a:rPr lang="en-US" sz="2100">
                <a:solidFill>
                  <a:srgbClr val="75FF82"/>
                </a:solidFill>
                <a:latin typeface="TT Hoves"/>
                <a:ea typeface="TT Hoves"/>
                <a:cs typeface="TT Hoves"/>
                <a:sym typeface="TT Hoves"/>
              </a:rPr>
              <a:t>Normalização - Escala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8479670" y="6810094"/>
            <a:ext cx="3953358" cy="7372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40"/>
              </a:lnSpc>
            </a:pPr>
            <a:r>
              <a:rPr lang="en-US" sz="2100">
                <a:solidFill>
                  <a:srgbClr val="FFFFFF"/>
                </a:solidFill>
                <a:latin typeface="TT Hoves"/>
                <a:ea typeface="TT Hoves"/>
                <a:cs typeface="TT Hoves"/>
                <a:sym typeface="TT Hoves"/>
              </a:rPr>
              <a:t>Lida bem com relações não-lineares e múltiplas variáveis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8479670" y="6302207"/>
            <a:ext cx="3953358" cy="3657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40"/>
              </a:lnSpc>
            </a:pPr>
            <a:r>
              <a:rPr lang="en-US" sz="2100">
                <a:solidFill>
                  <a:srgbClr val="75FF82"/>
                </a:solidFill>
                <a:latin typeface="TT Hoves"/>
                <a:ea typeface="TT Hoves"/>
                <a:cs typeface="TT Hoves"/>
                <a:sym typeface="TT Hoves"/>
              </a:rPr>
              <a:t>Por que esse?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41A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5028686" y="3253238"/>
            <a:ext cx="4115314" cy="2955048"/>
            <a:chOff x="0" y="0"/>
            <a:chExt cx="1083869" cy="778284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083869" cy="778284"/>
            </a:xfrm>
            <a:custGeom>
              <a:avLst/>
              <a:gdLst/>
              <a:ahLst/>
              <a:cxnLst/>
              <a:rect r="r" b="b" t="t" l="l"/>
              <a:pathLst>
                <a:path h="778284" w="1083869">
                  <a:moveTo>
                    <a:pt x="67725" y="0"/>
                  </a:moveTo>
                  <a:lnTo>
                    <a:pt x="1016144" y="0"/>
                  </a:lnTo>
                  <a:cubicBezTo>
                    <a:pt x="1034106" y="0"/>
                    <a:pt x="1051332" y="7135"/>
                    <a:pt x="1064033" y="19836"/>
                  </a:cubicBezTo>
                  <a:cubicBezTo>
                    <a:pt x="1076734" y="32537"/>
                    <a:pt x="1083869" y="49763"/>
                    <a:pt x="1083869" y="67725"/>
                  </a:cubicBezTo>
                  <a:lnTo>
                    <a:pt x="1083869" y="710559"/>
                  </a:lnTo>
                  <a:cubicBezTo>
                    <a:pt x="1083869" y="728521"/>
                    <a:pt x="1076734" y="745747"/>
                    <a:pt x="1064033" y="758448"/>
                  </a:cubicBezTo>
                  <a:cubicBezTo>
                    <a:pt x="1051332" y="771149"/>
                    <a:pt x="1034106" y="778284"/>
                    <a:pt x="1016144" y="778284"/>
                  </a:cubicBezTo>
                  <a:lnTo>
                    <a:pt x="67725" y="778284"/>
                  </a:lnTo>
                  <a:cubicBezTo>
                    <a:pt x="49763" y="778284"/>
                    <a:pt x="32537" y="771149"/>
                    <a:pt x="19836" y="758448"/>
                  </a:cubicBezTo>
                  <a:cubicBezTo>
                    <a:pt x="7135" y="745747"/>
                    <a:pt x="0" y="728521"/>
                    <a:pt x="0" y="710559"/>
                  </a:cubicBezTo>
                  <a:lnTo>
                    <a:pt x="0" y="67725"/>
                  </a:lnTo>
                  <a:cubicBezTo>
                    <a:pt x="0" y="49763"/>
                    <a:pt x="7135" y="32537"/>
                    <a:pt x="19836" y="19836"/>
                  </a:cubicBezTo>
                  <a:cubicBezTo>
                    <a:pt x="32537" y="7135"/>
                    <a:pt x="49763" y="0"/>
                    <a:pt x="67725" y="0"/>
                  </a:cubicBezTo>
                  <a:close/>
                </a:path>
              </a:pathLst>
            </a:custGeom>
            <a:ln w="47625" cap="rnd">
              <a:solidFill>
                <a:srgbClr val="BEC2C7">
                  <a:alpha val="28627"/>
                </a:srgbClr>
              </a:solidFill>
              <a:prstDash val="solid"/>
              <a:round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47625"/>
              <a:ext cx="1083869" cy="82590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4901039" y="6570521"/>
            <a:ext cx="4115314" cy="2955048"/>
            <a:chOff x="0" y="0"/>
            <a:chExt cx="1083869" cy="778284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083869" cy="778284"/>
            </a:xfrm>
            <a:custGeom>
              <a:avLst/>
              <a:gdLst/>
              <a:ahLst/>
              <a:cxnLst/>
              <a:rect r="r" b="b" t="t" l="l"/>
              <a:pathLst>
                <a:path h="778284" w="1083869">
                  <a:moveTo>
                    <a:pt x="67725" y="0"/>
                  </a:moveTo>
                  <a:lnTo>
                    <a:pt x="1016144" y="0"/>
                  </a:lnTo>
                  <a:cubicBezTo>
                    <a:pt x="1034106" y="0"/>
                    <a:pt x="1051332" y="7135"/>
                    <a:pt x="1064033" y="19836"/>
                  </a:cubicBezTo>
                  <a:cubicBezTo>
                    <a:pt x="1076734" y="32537"/>
                    <a:pt x="1083869" y="49763"/>
                    <a:pt x="1083869" y="67725"/>
                  </a:cubicBezTo>
                  <a:lnTo>
                    <a:pt x="1083869" y="710559"/>
                  </a:lnTo>
                  <a:cubicBezTo>
                    <a:pt x="1083869" y="728521"/>
                    <a:pt x="1076734" y="745747"/>
                    <a:pt x="1064033" y="758448"/>
                  </a:cubicBezTo>
                  <a:cubicBezTo>
                    <a:pt x="1051332" y="771149"/>
                    <a:pt x="1034106" y="778284"/>
                    <a:pt x="1016144" y="778284"/>
                  </a:cubicBezTo>
                  <a:lnTo>
                    <a:pt x="67725" y="778284"/>
                  </a:lnTo>
                  <a:cubicBezTo>
                    <a:pt x="49763" y="778284"/>
                    <a:pt x="32537" y="771149"/>
                    <a:pt x="19836" y="758448"/>
                  </a:cubicBezTo>
                  <a:cubicBezTo>
                    <a:pt x="7135" y="745747"/>
                    <a:pt x="0" y="728521"/>
                    <a:pt x="0" y="710559"/>
                  </a:cubicBezTo>
                  <a:lnTo>
                    <a:pt x="0" y="67725"/>
                  </a:lnTo>
                  <a:cubicBezTo>
                    <a:pt x="0" y="49763"/>
                    <a:pt x="7135" y="32537"/>
                    <a:pt x="19836" y="19836"/>
                  </a:cubicBezTo>
                  <a:cubicBezTo>
                    <a:pt x="32537" y="7135"/>
                    <a:pt x="49763" y="0"/>
                    <a:pt x="67725" y="0"/>
                  </a:cubicBezTo>
                  <a:close/>
                </a:path>
              </a:pathLst>
            </a:custGeom>
            <a:solidFill>
              <a:srgbClr val="33CD91">
                <a:alpha val="28627"/>
              </a:srgbClr>
            </a:solidFill>
            <a:ln w="47625" cap="rnd">
              <a:solidFill>
                <a:srgbClr val="BEC2C7">
                  <a:alpha val="28627"/>
                </a:srgbClr>
              </a:solidFill>
              <a:prstDash val="solid"/>
              <a:round/>
            </a:ln>
          </p:spPr>
        </p:sp>
        <p:sp>
          <p:nvSpPr>
            <p:cNvPr name="TextBox 7" id="7"/>
            <p:cNvSpPr txBox="true"/>
            <p:nvPr/>
          </p:nvSpPr>
          <p:spPr>
            <a:xfrm>
              <a:off x="0" y="-47625"/>
              <a:ext cx="1083869" cy="82590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11163399" y="6570521"/>
            <a:ext cx="4115314" cy="2955048"/>
            <a:chOff x="0" y="0"/>
            <a:chExt cx="1083869" cy="778284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083869" cy="778284"/>
            </a:xfrm>
            <a:custGeom>
              <a:avLst/>
              <a:gdLst/>
              <a:ahLst/>
              <a:cxnLst/>
              <a:rect r="r" b="b" t="t" l="l"/>
              <a:pathLst>
                <a:path h="778284" w="1083869">
                  <a:moveTo>
                    <a:pt x="67725" y="0"/>
                  </a:moveTo>
                  <a:lnTo>
                    <a:pt x="1016144" y="0"/>
                  </a:lnTo>
                  <a:cubicBezTo>
                    <a:pt x="1034106" y="0"/>
                    <a:pt x="1051332" y="7135"/>
                    <a:pt x="1064033" y="19836"/>
                  </a:cubicBezTo>
                  <a:cubicBezTo>
                    <a:pt x="1076734" y="32537"/>
                    <a:pt x="1083869" y="49763"/>
                    <a:pt x="1083869" y="67725"/>
                  </a:cubicBezTo>
                  <a:lnTo>
                    <a:pt x="1083869" y="710559"/>
                  </a:lnTo>
                  <a:cubicBezTo>
                    <a:pt x="1083869" y="728521"/>
                    <a:pt x="1076734" y="745747"/>
                    <a:pt x="1064033" y="758448"/>
                  </a:cubicBezTo>
                  <a:cubicBezTo>
                    <a:pt x="1051332" y="771149"/>
                    <a:pt x="1034106" y="778284"/>
                    <a:pt x="1016144" y="778284"/>
                  </a:cubicBezTo>
                  <a:lnTo>
                    <a:pt x="67725" y="778284"/>
                  </a:lnTo>
                  <a:cubicBezTo>
                    <a:pt x="49763" y="778284"/>
                    <a:pt x="32537" y="771149"/>
                    <a:pt x="19836" y="758448"/>
                  </a:cubicBezTo>
                  <a:cubicBezTo>
                    <a:pt x="7135" y="745747"/>
                    <a:pt x="0" y="728521"/>
                    <a:pt x="0" y="710559"/>
                  </a:cubicBezTo>
                  <a:lnTo>
                    <a:pt x="0" y="67725"/>
                  </a:lnTo>
                  <a:cubicBezTo>
                    <a:pt x="0" y="49763"/>
                    <a:pt x="7135" y="32537"/>
                    <a:pt x="19836" y="19836"/>
                  </a:cubicBezTo>
                  <a:cubicBezTo>
                    <a:pt x="32537" y="7135"/>
                    <a:pt x="49763" y="0"/>
                    <a:pt x="67725" y="0"/>
                  </a:cubicBezTo>
                  <a:close/>
                </a:path>
              </a:pathLst>
            </a:custGeom>
            <a:ln w="47625" cap="rnd">
              <a:solidFill>
                <a:srgbClr val="BEC2C7">
                  <a:alpha val="28627"/>
                </a:srgbClr>
              </a:solidFill>
              <a:prstDash val="solid"/>
              <a:round/>
            </a:ln>
          </p:spPr>
        </p:sp>
        <p:sp>
          <p:nvSpPr>
            <p:cNvPr name="TextBox 10" id="10"/>
            <p:cNvSpPr txBox="true"/>
            <p:nvPr/>
          </p:nvSpPr>
          <p:spPr>
            <a:xfrm>
              <a:off x="0" y="-47625"/>
              <a:ext cx="1083869" cy="82590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11" id="11"/>
          <p:cNvSpPr/>
          <p:nvPr/>
        </p:nvSpPr>
        <p:spPr>
          <a:xfrm flipH="false" flipV="false" rot="0">
            <a:off x="17259300" y="9098727"/>
            <a:ext cx="762000" cy="640080"/>
          </a:xfrm>
          <a:custGeom>
            <a:avLst/>
            <a:gdLst/>
            <a:ahLst/>
            <a:cxnLst/>
            <a:rect r="r" b="b" t="t" l="l"/>
            <a:pathLst>
              <a:path h="640080" w="762000">
                <a:moveTo>
                  <a:pt x="0" y="0"/>
                </a:moveTo>
                <a:lnTo>
                  <a:pt x="762000" y="0"/>
                </a:lnTo>
                <a:lnTo>
                  <a:pt x="762000" y="640080"/>
                </a:lnTo>
                <a:lnTo>
                  <a:pt x="0" y="64008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grpSp>
        <p:nvGrpSpPr>
          <p:cNvPr name="Group 12" id="12"/>
          <p:cNvGrpSpPr/>
          <p:nvPr/>
        </p:nvGrpSpPr>
        <p:grpSpPr>
          <a:xfrm rot="0">
            <a:off x="11150745" y="3367822"/>
            <a:ext cx="4115314" cy="2955048"/>
            <a:chOff x="0" y="0"/>
            <a:chExt cx="1083869" cy="778284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1083869" cy="778284"/>
            </a:xfrm>
            <a:custGeom>
              <a:avLst/>
              <a:gdLst/>
              <a:ahLst/>
              <a:cxnLst/>
              <a:rect r="r" b="b" t="t" l="l"/>
              <a:pathLst>
                <a:path h="778284" w="1083869">
                  <a:moveTo>
                    <a:pt x="67725" y="0"/>
                  </a:moveTo>
                  <a:lnTo>
                    <a:pt x="1016144" y="0"/>
                  </a:lnTo>
                  <a:cubicBezTo>
                    <a:pt x="1034106" y="0"/>
                    <a:pt x="1051332" y="7135"/>
                    <a:pt x="1064033" y="19836"/>
                  </a:cubicBezTo>
                  <a:cubicBezTo>
                    <a:pt x="1076734" y="32537"/>
                    <a:pt x="1083869" y="49763"/>
                    <a:pt x="1083869" y="67725"/>
                  </a:cubicBezTo>
                  <a:lnTo>
                    <a:pt x="1083869" y="710559"/>
                  </a:lnTo>
                  <a:cubicBezTo>
                    <a:pt x="1083869" y="728521"/>
                    <a:pt x="1076734" y="745747"/>
                    <a:pt x="1064033" y="758448"/>
                  </a:cubicBezTo>
                  <a:cubicBezTo>
                    <a:pt x="1051332" y="771149"/>
                    <a:pt x="1034106" y="778284"/>
                    <a:pt x="1016144" y="778284"/>
                  </a:cubicBezTo>
                  <a:lnTo>
                    <a:pt x="67725" y="778284"/>
                  </a:lnTo>
                  <a:cubicBezTo>
                    <a:pt x="49763" y="778284"/>
                    <a:pt x="32537" y="771149"/>
                    <a:pt x="19836" y="758448"/>
                  </a:cubicBezTo>
                  <a:cubicBezTo>
                    <a:pt x="7135" y="745747"/>
                    <a:pt x="0" y="728521"/>
                    <a:pt x="0" y="710559"/>
                  </a:cubicBezTo>
                  <a:lnTo>
                    <a:pt x="0" y="67725"/>
                  </a:lnTo>
                  <a:cubicBezTo>
                    <a:pt x="0" y="49763"/>
                    <a:pt x="7135" y="32537"/>
                    <a:pt x="19836" y="19836"/>
                  </a:cubicBezTo>
                  <a:cubicBezTo>
                    <a:pt x="32537" y="7135"/>
                    <a:pt x="49763" y="0"/>
                    <a:pt x="67725" y="0"/>
                  </a:cubicBezTo>
                  <a:close/>
                </a:path>
              </a:pathLst>
            </a:custGeom>
            <a:ln w="47625" cap="rnd">
              <a:solidFill>
                <a:srgbClr val="BEC2C7">
                  <a:alpha val="28627"/>
                </a:srgbClr>
              </a:solidFill>
              <a:prstDash val="solid"/>
              <a:round/>
            </a:ln>
          </p:spPr>
        </p:sp>
        <p:sp>
          <p:nvSpPr>
            <p:cNvPr name="TextBox 14" id="14"/>
            <p:cNvSpPr txBox="true"/>
            <p:nvPr/>
          </p:nvSpPr>
          <p:spPr>
            <a:xfrm>
              <a:off x="0" y="-47625"/>
              <a:ext cx="1083869" cy="82590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15" id="15"/>
          <p:cNvSpPr/>
          <p:nvPr/>
        </p:nvSpPr>
        <p:spPr>
          <a:xfrm flipH="false" flipV="false" rot="0">
            <a:off x="5573608" y="767853"/>
            <a:ext cx="10626664" cy="1859666"/>
          </a:xfrm>
          <a:custGeom>
            <a:avLst/>
            <a:gdLst/>
            <a:ahLst/>
            <a:cxnLst/>
            <a:rect r="r" b="b" t="t" l="l"/>
            <a:pathLst>
              <a:path h="1859666" w="10626664">
                <a:moveTo>
                  <a:pt x="0" y="0"/>
                </a:moveTo>
                <a:lnTo>
                  <a:pt x="10626664" y="0"/>
                </a:lnTo>
                <a:lnTo>
                  <a:pt x="10626664" y="1859666"/>
                </a:lnTo>
                <a:lnTo>
                  <a:pt x="0" y="185966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16" id="16"/>
          <p:cNvSpPr txBox="true"/>
          <p:nvPr/>
        </p:nvSpPr>
        <p:spPr>
          <a:xfrm rot="0">
            <a:off x="1028700" y="1393958"/>
            <a:ext cx="4802328" cy="16592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719"/>
              </a:lnSpc>
            </a:pPr>
            <a:r>
              <a:rPr lang="en-US" sz="4800">
                <a:solidFill>
                  <a:srgbClr val="75FF82"/>
                </a:solidFill>
                <a:latin typeface="TT Hoves"/>
                <a:ea typeface="TT Hoves"/>
                <a:cs typeface="TT Hoves"/>
                <a:sym typeface="TT Hoves"/>
              </a:rPr>
              <a:t>Resultados: As Métricas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5445961" y="4249284"/>
            <a:ext cx="3025470" cy="14801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40"/>
              </a:lnSpc>
            </a:pPr>
            <a:r>
              <a:rPr lang="en-US" sz="2100">
                <a:solidFill>
                  <a:srgbClr val="FFFFFF"/>
                </a:solidFill>
                <a:latin typeface="TT Hoves"/>
                <a:ea typeface="TT Hoves"/>
                <a:cs typeface="TT Hoves"/>
                <a:sym typeface="TT Hoves"/>
              </a:rPr>
              <a:t>R² = 0,23 → o modelo explica ~23% da variação do dólar</a:t>
            </a:r>
          </a:p>
          <a:p>
            <a:pPr algn="l">
              <a:lnSpc>
                <a:spcPts val="2940"/>
              </a:lnSpc>
            </a:pPr>
          </a:p>
        </p:txBody>
      </p:sp>
      <p:sp>
        <p:nvSpPr>
          <p:cNvPr name="TextBox 18" id="18"/>
          <p:cNvSpPr txBox="true"/>
          <p:nvPr/>
        </p:nvSpPr>
        <p:spPr>
          <a:xfrm rot="0">
            <a:off x="5573608" y="3727495"/>
            <a:ext cx="3025470" cy="3657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40"/>
              </a:lnSpc>
            </a:pPr>
            <a:r>
              <a:rPr lang="en-US" sz="2100">
                <a:solidFill>
                  <a:srgbClr val="75FF82"/>
                </a:solidFill>
                <a:latin typeface="TT Hoves"/>
                <a:ea typeface="TT Hoves"/>
                <a:cs typeface="TT Hoves"/>
                <a:sym typeface="TT Hoves"/>
              </a:rPr>
              <a:t>R²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5144014" y="7659249"/>
            <a:ext cx="3025470" cy="11087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40"/>
              </a:lnSpc>
            </a:pPr>
            <a:r>
              <a:rPr lang="en-US" sz="2100">
                <a:solidFill>
                  <a:srgbClr val="FFFFFF"/>
                </a:solidFill>
                <a:latin typeface="TT Hoves"/>
                <a:ea typeface="TT Hoves"/>
                <a:cs typeface="TT Hoves"/>
                <a:sym typeface="TT Hoves"/>
              </a:rPr>
              <a:t>RMSE = R$ 0,69 → penaliza mais os erros grandes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5144014" y="7087749"/>
            <a:ext cx="3025470" cy="3657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40"/>
              </a:lnSpc>
            </a:pPr>
            <a:r>
              <a:rPr lang="en-US" sz="2100">
                <a:solidFill>
                  <a:srgbClr val="75FF82"/>
                </a:solidFill>
                <a:latin typeface="TT Hoves"/>
                <a:ea typeface="TT Hoves"/>
                <a:cs typeface="TT Hoves"/>
                <a:sym typeface="TT Hoves"/>
              </a:rPr>
              <a:t>RMSE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11601197" y="7778115"/>
            <a:ext cx="3214410" cy="7372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40"/>
              </a:lnSpc>
            </a:pPr>
            <a:r>
              <a:rPr lang="en-US" sz="2100">
                <a:solidFill>
                  <a:srgbClr val="FFFFFF"/>
                </a:solidFill>
                <a:latin typeface="TT Hoves"/>
                <a:ea typeface="TT Hoves"/>
                <a:cs typeface="TT Hoves"/>
                <a:sym typeface="TT Hoves"/>
              </a:rPr>
              <a:t>MAPE = 17,73% → erro percentual médio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11613595" y="7247573"/>
            <a:ext cx="3900309" cy="3657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40"/>
              </a:lnSpc>
            </a:pPr>
            <a:r>
              <a:rPr lang="en-US" sz="2100">
                <a:solidFill>
                  <a:srgbClr val="75FF82"/>
                </a:solidFill>
                <a:latin typeface="TT Hoves"/>
                <a:ea typeface="TT Hoves"/>
                <a:cs typeface="TT Hoves"/>
                <a:sym typeface="TT Hoves"/>
              </a:rPr>
              <a:t>MAPE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11874999" y="4452917"/>
            <a:ext cx="3025470" cy="7372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40"/>
              </a:lnSpc>
            </a:pPr>
            <a:r>
              <a:rPr lang="en-US" sz="2100">
                <a:solidFill>
                  <a:srgbClr val="FFFFFF"/>
                </a:solidFill>
                <a:latin typeface="TT Hoves"/>
                <a:ea typeface="TT Hoves"/>
                <a:cs typeface="TT Hoves"/>
                <a:sym typeface="TT Hoves"/>
              </a:rPr>
              <a:t>MAE = R$ 0,54 → erro médio de ~54 centavos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12051014" y="3886563"/>
            <a:ext cx="3025470" cy="3657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40"/>
              </a:lnSpc>
            </a:pPr>
            <a:r>
              <a:rPr lang="en-US" sz="2100">
                <a:solidFill>
                  <a:srgbClr val="75FF82"/>
                </a:solidFill>
                <a:latin typeface="TT Hoves"/>
                <a:ea typeface="TT Hoves"/>
                <a:cs typeface="TT Hoves"/>
                <a:sym typeface="TT Hoves"/>
              </a:rPr>
              <a:t>MAE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41A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4616650" y="643862"/>
            <a:ext cx="9938959" cy="8999275"/>
          </a:xfrm>
          <a:custGeom>
            <a:avLst/>
            <a:gdLst/>
            <a:ahLst/>
            <a:cxnLst/>
            <a:rect r="r" b="b" t="t" l="l"/>
            <a:pathLst>
              <a:path h="8999275" w="9938959">
                <a:moveTo>
                  <a:pt x="0" y="0"/>
                </a:moveTo>
                <a:lnTo>
                  <a:pt x="9938959" y="0"/>
                </a:lnTo>
                <a:lnTo>
                  <a:pt x="9938959" y="8999276"/>
                </a:lnTo>
                <a:lnTo>
                  <a:pt x="0" y="899927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44999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6198694" y="1028700"/>
            <a:ext cx="762000" cy="640080"/>
          </a:xfrm>
          <a:custGeom>
            <a:avLst/>
            <a:gdLst/>
            <a:ahLst/>
            <a:cxnLst/>
            <a:rect r="r" b="b" t="t" l="l"/>
            <a:pathLst>
              <a:path h="640080" w="762000">
                <a:moveTo>
                  <a:pt x="0" y="0"/>
                </a:moveTo>
                <a:lnTo>
                  <a:pt x="762000" y="0"/>
                </a:lnTo>
                <a:lnTo>
                  <a:pt x="762000" y="640080"/>
                </a:lnTo>
                <a:lnTo>
                  <a:pt x="0" y="64008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grpSp>
        <p:nvGrpSpPr>
          <p:cNvPr name="Group 4" id="4"/>
          <p:cNvGrpSpPr/>
          <p:nvPr/>
        </p:nvGrpSpPr>
        <p:grpSpPr>
          <a:xfrm rot="0">
            <a:off x="1435251" y="3031702"/>
            <a:ext cx="4911591" cy="3664452"/>
            <a:chOff x="0" y="0"/>
            <a:chExt cx="1293588" cy="965123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293588" cy="965123"/>
            </a:xfrm>
            <a:custGeom>
              <a:avLst/>
              <a:gdLst/>
              <a:ahLst/>
              <a:cxnLst/>
              <a:rect r="r" b="b" t="t" l="l"/>
              <a:pathLst>
                <a:path h="965123" w="1293588">
                  <a:moveTo>
                    <a:pt x="36254" y="0"/>
                  </a:moveTo>
                  <a:lnTo>
                    <a:pt x="1257334" y="0"/>
                  </a:lnTo>
                  <a:cubicBezTo>
                    <a:pt x="1277356" y="0"/>
                    <a:pt x="1293588" y="16231"/>
                    <a:pt x="1293588" y="36254"/>
                  </a:cubicBezTo>
                  <a:lnTo>
                    <a:pt x="1293588" y="928869"/>
                  </a:lnTo>
                  <a:cubicBezTo>
                    <a:pt x="1293588" y="938484"/>
                    <a:pt x="1289768" y="947706"/>
                    <a:pt x="1282969" y="954505"/>
                  </a:cubicBezTo>
                  <a:cubicBezTo>
                    <a:pt x="1276170" y="961303"/>
                    <a:pt x="1266949" y="965123"/>
                    <a:pt x="1257334" y="965123"/>
                  </a:cubicBezTo>
                  <a:lnTo>
                    <a:pt x="36254" y="965123"/>
                  </a:lnTo>
                  <a:cubicBezTo>
                    <a:pt x="26639" y="965123"/>
                    <a:pt x="17417" y="961303"/>
                    <a:pt x="10619" y="954505"/>
                  </a:cubicBezTo>
                  <a:cubicBezTo>
                    <a:pt x="3820" y="947706"/>
                    <a:pt x="0" y="938484"/>
                    <a:pt x="0" y="928869"/>
                  </a:cubicBezTo>
                  <a:lnTo>
                    <a:pt x="0" y="36254"/>
                  </a:lnTo>
                  <a:cubicBezTo>
                    <a:pt x="0" y="26639"/>
                    <a:pt x="3820" y="17417"/>
                    <a:pt x="10619" y="10619"/>
                  </a:cubicBezTo>
                  <a:cubicBezTo>
                    <a:pt x="17417" y="3820"/>
                    <a:pt x="26639" y="0"/>
                    <a:pt x="36254" y="0"/>
                  </a:cubicBezTo>
                  <a:close/>
                </a:path>
              </a:pathLst>
            </a:custGeom>
            <a:solidFill>
              <a:srgbClr val="141A1F">
                <a:alpha val="81961"/>
              </a:srgbClr>
            </a:solidFill>
            <a:ln w="47625" cap="rnd">
              <a:solidFill>
                <a:srgbClr val="BEC2C7">
                  <a:alpha val="81961"/>
                </a:srgbClr>
              </a:solidFill>
              <a:prstDash val="solid"/>
              <a:round/>
            </a:ln>
          </p:spPr>
        </p:sp>
        <p:sp>
          <p:nvSpPr>
            <p:cNvPr name="TextBox 6" id="6"/>
            <p:cNvSpPr txBox="true"/>
            <p:nvPr/>
          </p:nvSpPr>
          <p:spPr>
            <a:xfrm>
              <a:off x="0" y="-47625"/>
              <a:ext cx="1293588" cy="101274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1435251" y="6921661"/>
            <a:ext cx="4911591" cy="2336639"/>
            <a:chOff x="0" y="0"/>
            <a:chExt cx="1293588" cy="615411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1293588" cy="615411"/>
            </a:xfrm>
            <a:custGeom>
              <a:avLst/>
              <a:gdLst/>
              <a:ahLst/>
              <a:cxnLst/>
              <a:rect r="r" b="b" t="t" l="l"/>
              <a:pathLst>
                <a:path h="615411" w="1293588">
                  <a:moveTo>
                    <a:pt x="36254" y="0"/>
                  </a:moveTo>
                  <a:lnTo>
                    <a:pt x="1257334" y="0"/>
                  </a:lnTo>
                  <a:cubicBezTo>
                    <a:pt x="1277356" y="0"/>
                    <a:pt x="1293588" y="16231"/>
                    <a:pt x="1293588" y="36254"/>
                  </a:cubicBezTo>
                  <a:lnTo>
                    <a:pt x="1293588" y="579157"/>
                  </a:lnTo>
                  <a:cubicBezTo>
                    <a:pt x="1293588" y="588772"/>
                    <a:pt x="1289768" y="597994"/>
                    <a:pt x="1282969" y="604793"/>
                  </a:cubicBezTo>
                  <a:cubicBezTo>
                    <a:pt x="1276170" y="611592"/>
                    <a:pt x="1266949" y="615411"/>
                    <a:pt x="1257334" y="615411"/>
                  </a:cubicBezTo>
                  <a:lnTo>
                    <a:pt x="36254" y="615411"/>
                  </a:lnTo>
                  <a:cubicBezTo>
                    <a:pt x="26639" y="615411"/>
                    <a:pt x="17417" y="611592"/>
                    <a:pt x="10619" y="604793"/>
                  </a:cubicBezTo>
                  <a:cubicBezTo>
                    <a:pt x="3820" y="597994"/>
                    <a:pt x="0" y="588772"/>
                    <a:pt x="0" y="579157"/>
                  </a:cubicBezTo>
                  <a:lnTo>
                    <a:pt x="0" y="36254"/>
                  </a:lnTo>
                  <a:cubicBezTo>
                    <a:pt x="0" y="26639"/>
                    <a:pt x="3820" y="17417"/>
                    <a:pt x="10619" y="10619"/>
                  </a:cubicBezTo>
                  <a:cubicBezTo>
                    <a:pt x="17417" y="3820"/>
                    <a:pt x="26639" y="0"/>
                    <a:pt x="36254" y="0"/>
                  </a:cubicBezTo>
                  <a:close/>
                </a:path>
              </a:pathLst>
            </a:custGeom>
            <a:solidFill>
              <a:srgbClr val="141A1F">
                <a:alpha val="81961"/>
              </a:srgbClr>
            </a:solidFill>
            <a:ln w="47625" cap="rnd">
              <a:solidFill>
                <a:srgbClr val="BEC2C7">
                  <a:alpha val="81961"/>
                </a:srgbClr>
              </a:solidFill>
              <a:prstDash val="solid"/>
              <a:round/>
            </a:ln>
          </p:spPr>
        </p:sp>
        <p:sp>
          <p:nvSpPr>
            <p:cNvPr name="TextBox 9" id="9"/>
            <p:cNvSpPr txBox="true"/>
            <p:nvPr/>
          </p:nvSpPr>
          <p:spPr>
            <a:xfrm>
              <a:off x="0" y="-47625"/>
              <a:ext cx="1293588" cy="66303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6688204" y="6921661"/>
            <a:ext cx="4911591" cy="2336639"/>
            <a:chOff x="0" y="0"/>
            <a:chExt cx="1293588" cy="615411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1293588" cy="615411"/>
            </a:xfrm>
            <a:custGeom>
              <a:avLst/>
              <a:gdLst/>
              <a:ahLst/>
              <a:cxnLst/>
              <a:rect r="r" b="b" t="t" l="l"/>
              <a:pathLst>
                <a:path h="615411" w="1293588">
                  <a:moveTo>
                    <a:pt x="36254" y="0"/>
                  </a:moveTo>
                  <a:lnTo>
                    <a:pt x="1257334" y="0"/>
                  </a:lnTo>
                  <a:cubicBezTo>
                    <a:pt x="1277356" y="0"/>
                    <a:pt x="1293588" y="16231"/>
                    <a:pt x="1293588" y="36254"/>
                  </a:cubicBezTo>
                  <a:lnTo>
                    <a:pt x="1293588" y="579157"/>
                  </a:lnTo>
                  <a:cubicBezTo>
                    <a:pt x="1293588" y="588772"/>
                    <a:pt x="1289768" y="597994"/>
                    <a:pt x="1282969" y="604793"/>
                  </a:cubicBezTo>
                  <a:cubicBezTo>
                    <a:pt x="1276170" y="611592"/>
                    <a:pt x="1266949" y="615411"/>
                    <a:pt x="1257334" y="615411"/>
                  </a:cubicBezTo>
                  <a:lnTo>
                    <a:pt x="36254" y="615411"/>
                  </a:lnTo>
                  <a:cubicBezTo>
                    <a:pt x="26639" y="615411"/>
                    <a:pt x="17417" y="611592"/>
                    <a:pt x="10619" y="604793"/>
                  </a:cubicBezTo>
                  <a:cubicBezTo>
                    <a:pt x="3820" y="597994"/>
                    <a:pt x="0" y="588772"/>
                    <a:pt x="0" y="579157"/>
                  </a:cubicBezTo>
                  <a:lnTo>
                    <a:pt x="0" y="36254"/>
                  </a:lnTo>
                  <a:cubicBezTo>
                    <a:pt x="0" y="26639"/>
                    <a:pt x="3820" y="17417"/>
                    <a:pt x="10619" y="10619"/>
                  </a:cubicBezTo>
                  <a:cubicBezTo>
                    <a:pt x="17417" y="3820"/>
                    <a:pt x="26639" y="0"/>
                    <a:pt x="36254" y="0"/>
                  </a:cubicBezTo>
                  <a:close/>
                </a:path>
              </a:pathLst>
            </a:custGeom>
            <a:solidFill>
              <a:srgbClr val="141A1F">
                <a:alpha val="81961"/>
              </a:srgbClr>
            </a:solidFill>
            <a:ln w="47625" cap="rnd">
              <a:solidFill>
                <a:srgbClr val="BEC2C7">
                  <a:alpha val="81961"/>
                </a:srgbClr>
              </a:solidFill>
              <a:prstDash val="solid"/>
              <a:round/>
            </a:ln>
          </p:spPr>
        </p:sp>
        <p:sp>
          <p:nvSpPr>
            <p:cNvPr name="TextBox 12" id="12"/>
            <p:cNvSpPr txBox="true"/>
            <p:nvPr/>
          </p:nvSpPr>
          <p:spPr>
            <a:xfrm>
              <a:off x="0" y="-47625"/>
              <a:ext cx="1293588" cy="66303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13" id="13"/>
          <p:cNvSpPr/>
          <p:nvPr/>
        </p:nvSpPr>
        <p:spPr>
          <a:xfrm flipH="false" flipV="false" rot="0">
            <a:off x="6688204" y="3323943"/>
            <a:ext cx="11301259" cy="3092620"/>
          </a:xfrm>
          <a:custGeom>
            <a:avLst/>
            <a:gdLst/>
            <a:ahLst/>
            <a:cxnLst/>
            <a:rect r="r" b="b" t="t" l="l"/>
            <a:pathLst>
              <a:path h="3092620" w="11301259">
                <a:moveTo>
                  <a:pt x="0" y="0"/>
                </a:moveTo>
                <a:lnTo>
                  <a:pt x="11301259" y="0"/>
                </a:lnTo>
                <a:lnTo>
                  <a:pt x="11301259" y="3092620"/>
                </a:lnTo>
                <a:lnTo>
                  <a:pt x="0" y="3092620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-1632" t="0" r="-1632" b="0"/>
            </a:stretch>
          </a:blipFill>
        </p:spPr>
      </p:sp>
      <p:sp>
        <p:nvSpPr>
          <p:cNvPr name="TextBox 14" id="14"/>
          <p:cNvSpPr txBox="true"/>
          <p:nvPr/>
        </p:nvSpPr>
        <p:spPr>
          <a:xfrm rot="0">
            <a:off x="1435251" y="1402080"/>
            <a:ext cx="8550348" cy="8115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719"/>
              </a:lnSpc>
            </a:pPr>
            <a:r>
              <a:rPr lang="en-US" sz="4800">
                <a:solidFill>
                  <a:srgbClr val="75FF82"/>
                </a:solidFill>
                <a:latin typeface="TT Hoves"/>
                <a:ea typeface="TT Hoves"/>
                <a:cs typeface="TT Hoves"/>
                <a:sym typeface="TT Hoves"/>
              </a:rPr>
              <a:t>Resultados: Real vs Previsto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963322" y="4526716"/>
            <a:ext cx="3953358" cy="7372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40"/>
              </a:lnSpc>
            </a:pPr>
            <a:r>
              <a:rPr lang="en-US" sz="2100">
                <a:solidFill>
                  <a:srgbClr val="FFFFFF"/>
                </a:solidFill>
                <a:latin typeface="TT Hoves"/>
                <a:ea typeface="TT Hoves"/>
                <a:cs typeface="TT Hoves"/>
                <a:sym typeface="TT Hoves"/>
              </a:rPr>
              <a:t>Modelo acompanha a tendência geral de alta do dólar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860639" y="7577057"/>
            <a:ext cx="4211610" cy="7372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40"/>
              </a:lnSpc>
            </a:pPr>
            <a:r>
              <a:rPr lang="en-US" sz="2100">
                <a:solidFill>
                  <a:srgbClr val="FFFFFF"/>
                </a:solidFill>
                <a:latin typeface="TT Hoves"/>
                <a:ea typeface="TT Hoves"/>
                <a:cs typeface="TT Hoves"/>
                <a:sym typeface="TT Hoves"/>
              </a:rPr>
              <a:t>Mas é mais "suave" — não captura os picos bruscos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7113593" y="7577057"/>
            <a:ext cx="4211610" cy="11087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40"/>
              </a:lnSpc>
            </a:pPr>
            <a:r>
              <a:rPr lang="en-US" sz="2100">
                <a:solidFill>
                  <a:srgbClr val="FFFFFF"/>
                </a:solidFill>
                <a:latin typeface="TT Hoves"/>
                <a:ea typeface="TT Hoves"/>
                <a:cs typeface="TT Hoves"/>
                <a:sym typeface="TT Hoves"/>
              </a:rPr>
              <a:t>Gráfico de dispersão: pontos concentrados na média, espalhados nos extremos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41A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7088641" y="520211"/>
            <a:ext cx="762000" cy="640080"/>
          </a:xfrm>
          <a:custGeom>
            <a:avLst/>
            <a:gdLst/>
            <a:ahLst/>
            <a:cxnLst/>
            <a:rect r="r" b="b" t="t" l="l"/>
            <a:pathLst>
              <a:path h="640080" w="762000">
                <a:moveTo>
                  <a:pt x="0" y="0"/>
                </a:moveTo>
                <a:lnTo>
                  <a:pt x="762000" y="0"/>
                </a:lnTo>
                <a:lnTo>
                  <a:pt x="762000" y="640080"/>
                </a:lnTo>
                <a:lnTo>
                  <a:pt x="0" y="64008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8987542" y="1351050"/>
            <a:ext cx="7944641" cy="4244589"/>
          </a:xfrm>
          <a:custGeom>
            <a:avLst/>
            <a:gdLst/>
            <a:ahLst/>
            <a:cxnLst/>
            <a:rect r="r" b="b" t="t" l="l"/>
            <a:pathLst>
              <a:path h="4244589" w="7944641">
                <a:moveTo>
                  <a:pt x="0" y="0"/>
                </a:moveTo>
                <a:lnTo>
                  <a:pt x="7944641" y="0"/>
                </a:lnTo>
                <a:lnTo>
                  <a:pt x="7944641" y="4244589"/>
                </a:lnTo>
                <a:lnTo>
                  <a:pt x="0" y="424458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0754895" y="5819729"/>
            <a:ext cx="4409935" cy="3724776"/>
          </a:xfrm>
          <a:custGeom>
            <a:avLst/>
            <a:gdLst/>
            <a:ahLst/>
            <a:cxnLst/>
            <a:rect r="r" b="b" t="t" l="l"/>
            <a:pathLst>
              <a:path h="3724776" w="4409935">
                <a:moveTo>
                  <a:pt x="0" y="0"/>
                </a:moveTo>
                <a:lnTo>
                  <a:pt x="4409935" y="0"/>
                </a:lnTo>
                <a:lnTo>
                  <a:pt x="4409935" y="3724775"/>
                </a:lnTo>
                <a:lnTo>
                  <a:pt x="0" y="3724775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1028700" y="1594758"/>
            <a:ext cx="4802328" cy="16592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719"/>
              </a:lnSpc>
            </a:pPr>
            <a:r>
              <a:rPr lang="en-US" sz="4800">
                <a:solidFill>
                  <a:srgbClr val="75FF82"/>
                </a:solidFill>
                <a:latin typeface="TT Hoves"/>
                <a:ea typeface="TT Hoves"/>
                <a:cs typeface="TT Hoves"/>
                <a:sym typeface="TT Hoves"/>
              </a:rPr>
              <a:t>Leitura Crítica do Modelo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766683" y="4945380"/>
            <a:ext cx="7279491" cy="29660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53390" indent="-226695" lvl="1">
              <a:lnSpc>
                <a:spcPts val="2940"/>
              </a:lnSpc>
              <a:buFont typeface="Arial"/>
              <a:buChar char="•"/>
            </a:pPr>
            <a:r>
              <a:rPr lang="en-US" sz="2100">
                <a:solidFill>
                  <a:srgbClr val="FFFFFF"/>
                </a:solidFill>
                <a:latin typeface="TT Hoves"/>
                <a:ea typeface="TT Hoves"/>
                <a:cs typeface="TT Hoves"/>
                <a:sym typeface="TT Hoves"/>
              </a:rPr>
              <a:t>O modelo subestima sistematicamente os valores extremos do câmbio</a:t>
            </a:r>
          </a:p>
          <a:p>
            <a:pPr algn="l" marL="453390" indent="-226695" lvl="1">
              <a:lnSpc>
                <a:spcPts val="2940"/>
              </a:lnSpc>
              <a:buFont typeface="Arial"/>
              <a:buChar char="•"/>
            </a:pPr>
            <a:r>
              <a:rPr lang="en-US" sz="2100">
                <a:solidFill>
                  <a:srgbClr val="FFFFFF"/>
                </a:solidFill>
                <a:latin typeface="TT Hoves"/>
                <a:ea typeface="TT Hoves"/>
                <a:cs typeface="TT Hoves"/>
                <a:sym typeface="TT Hoves"/>
              </a:rPr>
              <a:t>Erros maiores em períodos de alta volatilidade (2002, 2015, 2020–2022)</a:t>
            </a:r>
          </a:p>
          <a:p>
            <a:pPr algn="l" marL="453390" indent="-226695" lvl="1">
              <a:lnSpc>
                <a:spcPts val="2940"/>
              </a:lnSpc>
              <a:buFont typeface="Arial"/>
              <a:buChar char="•"/>
            </a:pPr>
            <a:r>
              <a:rPr lang="en-US" sz="2100">
                <a:solidFill>
                  <a:srgbClr val="FFFFFF"/>
                </a:solidFill>
                <a:latin typeface="TT Hoves"/>
                <a:ea typeface="TT Hoves"/>
                <a:cs typeface="TT Hoves"/>
                <a:sym typeface="TT Hoves"/>
              </a:rPr>
              <a:t>R² baixo é coerente: câmbio sofre influência de fatores não capturados (política, crises, especulação)</a:t>
            </a:r>
          </a:p>
          <a:p>
            <a:pPr algn="l" marL="453390" indent="-226695" lvl="1">
              <a:lnSpc>
                <a:spcPts val="2940"/>
              </a:lnSpc>
              <a:buFont typeface="Arial"/>
              <a:buChar char="•"/>
            </a:pPr>
            <a:r>
              <a:rPr lang="en-US" sz="2100">
                <a:solidFill>
                  <a:srgbClr val="FFFFFF"/>
                </a:solidFill>
                <a:latin typeface="TT Hoves"/>
                <a:ea typeface="TT Hoves"/>
                <a:cs typeface="TT Hoves"/>
                <a:sym typeface="TT Hoves"/>
              </a:rPr>
              <a:t>Dataset sintético também limita o desempenho</a:t>
            </a:r>
          </a:p>
          <a:p>
            <a:pPr algn="l">
              <a:lnSpc>
                <a:spcPts val="2940"/>
              </a:lnSpc>
            </a:pPr>
          </a:p>
        </p:txBody>
      </p:sp>
      <p:sp>
        <p:nvSpPr>
          <p:cNvPr name="TextBox 7" id="7"/>
          <p:cNvSpPr txBox="true"/>
          <p:nvPr/>
        </p:nvSpPr>
        <p:spPr>
          <a:xfrm rot="0">
            <a:off x="1028700" y="4110310"/>
            <a:ext cx="3377728" cy="3657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40"/>
              </a:lnSpc>
            </a:pPr>
            <a:r>
              <a:rPr lang="en-US" sz="2100">
                <a:solidFill>
                  <a:srgbClr val="75FF82"/>
                </a:solidFill>
                <a:latin typeface="TT Hoves"/>
                <a:ea typeface="TT Hoves"/>
                <a:cs typeface="TT Hoves"/>
                <a:sym typeface="TT Hoves"/>
              </a:rPr>
              <a:t>Análise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41A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028700" y="1028700"/>
            <a:ext cx="762000" cy="640080"/>
          </a:xfrm>
          <a:custGeom>
            <a:avLst/>
            <a:gdLst/>
            <a:ahLst/>
            <a:cxnLst/>
            <a:rect r="r" b="b" t="t" l="l"/>
            <a:pathLst>
              <a:path h="640080" w="762000">
                <a:moveTo>
                  <a:pt x="0" y="0"/>
                </a:moveTo>
                <a:lnTo>
                  <a:pt x="762000" y="0"/>
                </a:lnTo>
                <a:lnTo>
                  <a:pt x="762000" y="640080"/>
                </a:lnTo>
                <a:lnTo>
                  <a:pt x="0" y="64008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-507067">
            <a:off x="9529550" y="1648942"/>
            <a:ext cx="7042553" cy="7042553"/>
          </a:xfrm>
          <a:custGeom>
            <a:avLst/>
            <a:gdLst/>
            <a:ahLst/>
            <a:cxnLst/>
            <a:rect r="r" b="b" t="t" l="l"/>
            <a:pathLst>
              <a:path h="7042553" w="7042553">
                <a:moveTo>
                  <a:pt x="0" y="0"/>
                </a:moveTo>
                <a:lnTo>
                  <a:pt x="7042553" y="0"/>
                </a:lnTo>
                <a:lnTo>
                  <a:pt x="7042553" y="7042553"/>
                </a:lnTo>
                <a:lnTo>
                  <a:pt x="0" y="7042553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4" id="4"/>
          <p:cNvGrpSpPr/>
          <p:nvPr/>
        </p:nvGrpSpPr>
        <p:grpSpPr>
          <a:xfrm rot="0">
            <a:off x="7898738" y="2812675"/>
            <a:ext cx="4323909" cy="1849978"/>
            <a:chOff x="0" y="0"/>
            <a:chExt cx="1138807" cy="487237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138807" cy="487237"/>
            </a:xfrm>
            <a:custGeom>
              <a:avLst/>
              <a:gdLst/>
              <a:ahLst/>
              <a:cxnLst/>
              <a:rect r="r" b="b" t="t" l="l"/>
              <a:pathLst>
                <a:path h="487237" w="1138807">
                  <a:moveTo>
                    <a:pt x="64458" y="0"/>
                  </a:moveTo>
                  <a:lnTo>
                    <a:pt x="1074350" y="0"/>
                  </a:lnTo>
                  <a:cubicBezTo>
                    <a:pt x="1109949" y="0"/>
                    <a:pt x="1138807" y="28859"/>
                    <a:pt x="1138807" y="64458"/>
                  </a:cubicBezTo>
                  <a:lnTo>
                    <a:pt x="1138807" y="422779"/>
                  </a:lnTo>
                  <a:cubicBezTo>
                    <a:pt x="1138807" y="458378"/>
                    <a:pt x="1109949" y="487237"/>
                    <a:pt x="1074350" y="487237"/>
                  </a:cubicBezTo>
                  <a:lnTo>
                    <a:pt x="64458" y="487237"/>
                  </a:lnTo>
                  <a:cubicBezTo>
                    <a:pt x="47362" y="487237"/>
                    <a:pt x="30967" y="480446"/>
                    <a:pt x="18879" y="468358"/>
                  </a:cubicBezTo>
                  <a:cubicBezTo>
                    <a:pt x="6791" y="456270"/>
                    <a:pt x="0" y="439875"/>
                    <a:pt x="0" y="422779"/>
                  </a:cubicBezTo>
                  <a:lnTo>
                    <a:pt x="0" y="64458"/>
                  </a:lnTo>
                  <a:cubicBezTo>
                    <a:pt x="0" y="28859"/>
                    <a:pt x="28859" y="0"/>
                    <a:pt x="64458" y="0"/>
                  </a:cubicBezTo>
                  <a:close/>
                </a:path>
              </a:pathLst>
            </a:custGeom>
            <a:solidFill>
              <a:srgbClr val="141A1F">
                <a:alpha val="57647"/>
              </a:srgbClr>
            </a:solidFill>
            <a:ln w="47625" cap="rnd">
              <a:solidFill>
                <a:srgbClr val="BEC2C7">
                  <a:alpha val="57647"/>
                </a:srgbClr>
              </a:solidFill>
              <a:prstDash val="solid"/>
              <a:round/>
            </a:ln>
          </p:spPr>
        </p:sp>
        <p:sp>
          <p:nvSpPr>
            <p:cNvPr name="TextBox 6" id="6"/>
            <p:cNvSpPr txBox="true"/>
            <p:nvPr/>
          </p:nvSpPr>
          <p:spPr>
            <a:xfrm>
              <a:off x="0" y="-47625"/>
              <a:ext cx="1138807" cy="53486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13493099" y="562816"/>
            <a:ext cx="4323909" cy="1849978"/>
            <a:chOff x="0" y="0"/>
            <a:chExt cx="1138807" cy="487237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1138807" cy="487237"/>
            </a:xfrm>
            <a:custGeom>
              <a:avLst/>
              <a:gdLst/>
              <a:ahLst/>
              <a:cxnLst/>
              <a:rect r="r" b="b" t="t" l="l"/>
              <a:pathLst>
                <a:path h="487237" w="1138807">
                  <a:moveTo>
                    <a:pt x="64458" y="0"/>
                  </a:moveTo>
                  <a:lnTo>
                    <a:pt x="1074350" y="0"/>
                  </a:lnTo>
                  <a:cubicBezTo>
                    <a:pt x="1109949" y="0"/>
                    <a:pt x="1138807" y="28859"/>
                    <a:pt x="1138807" y="64458"/>
                  </a:cubicBezTo>
                  <a:lnTo>
                    <a:pt x="1138807" y="422779"/>
                  </a:lnTo>
                  <a:cubicBezTo>
                    <a:pt x="1138807" y="458378"/>
                    <a:pt x="1109949" y="487237"/>
                    <a:pt x="1074350" y="487237"/>
                  </a:cubicBezTo>
                  <a:lnTo>
                    <a:pt x="64458" y="487237"/>
                  </a:lnTo>
                  <a:cubicBezTo>
                    <a:pt x="47362" y="487237"/>
                    <a:pt x="30967" y="480446"/>
                    <a:pt x="18879" y="468358"/>
                  </a:cubicBezTo>
                  <a:cubicBezTo>
                    <a:pt x="6791" y="456270"/>
                    <a:pt x="0" y="439875"/>
                    <a:pt x="0" y="422779"/>
                  </a:cubicBezTo>
                  <a:lnTo>
                    <a:pt x="0" y="64458"/>
                  </a:lnTo>
                  <a:cubicBezTo>
                    <a:pt x="0" y="28859"/>
                    <a:pt x="28859" y="0"/>
                    <a:pt x="64458" y="0"/>
                  </a:cubicBezTo>
                  <a:close/>
                </a:path>
              </a:pathLst>
            </a:custGeom>
            <a:solidFill>
              <a:srgbClr val="141A1F">
                <a:alpha val="57647"/>
              </a:srgbClr>
            </a:solidFill>
            <a:ln w="47625" cap="rnd">
              <a:solidFill>
                <a:srgbClr val="BEC2C7">
                  <a:alpha val="57647"/>
                </a:srgbClr>
              </a:solidFill>
              <a:prstDash val="solid"/>
              <a:round/>
            </a:ln>
          </p:spPr>
        </p:sp>
        <p:sp>
          <p:nvSpPr>
            <p:cNvPr name="TextBox 9" id="9"/>
            <p:cNvSpPr txBox="true"/>
            <p:nvPr/>
          </p:nvSpPr>
          <p:spPr>
            <a:xfrm>
              <a:off x="0" y="-47625"/>
              <a:ext cx="1138807" cy="53486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10" id="10"/>
          <p:cNvSpPr/>
          <p:nvPr/>
        </p:nvSpPr>
        <p:spPr>
          <a:xfrm flipH="false" flipV="false" rot="0">
            <a:off x="10696274" y="5062703"/>
            <a:ext cx="7120733" cy="3907502"/>
          </a:xfrm>
          <a:custGeom>
            <a:avLst/>
            <a:gdLst/>
            <a:ahLst/>
            <a:cxnLst/>
            <a:rect r="r" b="b" t="t" l="l"/>
            <a:pathLst>
              <a:path h="3907502" w="7120733">
                <a:moveTo>
                  <a:pt x="0" y="0"/>
                </a:moveTo>
                <a:lnTo>
                  <a:pt x="7120733" y="0"/>
                </a:lnTo>
                <a:lnTo>
                  <a:pt x="7120733" y="3907502"/>
                </a:lnTo>
                <a:lnTo>
                  <a:pt x="0" y="3907502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TextBox 11" id="11"/>
          <p:cNvSpPr txBox="true"/>
          <p:nvPr/>
        </p:nvSpPr>
        <p:spPr>
          <a:xfrm rot="0">
            <a:off x="1011535" y="2677526"/>
            <a:ext cx="4802328" cy="16592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719"/>
              </a:lnSpc>
            </a:pPr>
            <a:r>
              <a:rPr lang="en-US" sz="4800">
                <a:solidFill>
                  <a:srgbClr val="75FF82"/>
                </a:solidFill>
                <a:latin typeface="TT Hoves"/>
                <a:ea typeface="TT Hoves"/>
                <a:cs typeface="TT Hoves"/>
                <a:sym typeface="TT Hoves"/>
              </a:rPr>
              <a:t>O Dashboard no Power BI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855077" y="5122593"/>
            <a:ext cx="7624017" cy="25946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53390" indent="-226695" lvl="1">
              <a:lnSpc>
                <a:spcPts val="2940"/>
              </a:lnSpc>
              <a:buFont typeface="Arial"/>
              <a:buChar char="•"/>
            </a:pPr>
            <a:r>
              <a:rPr lang="en-US" sz="2100">
                <a:solidFill>
                  <a:srgbClr val="FFFFFF"/>
                </a:solidFill>
                <a:latin typeface="TT Hoves"/>
                <a:ea typeface="TT Hoves"/>
                <a:cs typeface="TT Hoves"/>
                <a:sym typeface="TT Hoves"/>
              </a:rPr>
              <a:t>Construído com modelo dimensional: tabela fato + dimensões + hierarquia de tempo</a:t>
            </a:r>
          </a:p>
          <a:p>
            <a:pPr algn="l" marL="453390" indent="-226695" lvl="1">
              <a:lnSpc>
                <a:spcPts val="2940"/>
              </a:lnSpc>
              <a:buFont typeface="Arial"/>
              <a:buChar char="•"/>
            </a:pPr>
            <a:r>
              <a:rPr lang="en-US" sz="2100">
                <a:solidFill>
                  <a:srgbClr val="FFFFFF"/>
                </a:solidFill>
                <a:latin typeface="TT Hoves"/>
                <a:ea typeface="TT Hoves"/>
                <a:cs typeface="TT Hoves"/>
                <a:sym typeface="TT Hoves"/>
              </a:rPr>
              <a:t>Linguagem M para tratamento (tipagem, colunas calculadas)</a:t>
            </a:r>
          </a:p>
          <a:p>
            <a:pPr algn="l" marL="453390" indent="-226695" lvl="1">
              <a:lnSpc>
                <a:spcPts val="2940"/>
              </a:lnSpc>
              <a:buFont typeface="Arial"/>
              <a:buChar char="•"/>
            </a:pPr>
            <a:r>
              <a:rPr lang="en-US" sz="2100">
                <a:solidFill>
                  <a:srgbClr val="FFFFFF"/>
                </a:solidFill>
                <a:latin typeface="TT Hoves"/>
                <a:ea typeface="TT Hoves"/>
                <a:cs typeface="TT Hoves"/>
                <a:sym typeface="TT Hoves"/>
              </a:rPr>
              <a:t>Medidas DAX para R², MAE, RMSE</a:t>
            </a:r>
          </a:p>
          <a:p>
            <a:pPr algn="l" marL="453390" indent="-226695" lvl="1">
              <a:lnSpc>
                <a:spcPts val="2940"/>
              </a:lnSpc>
              <a:buFont typeface="Arial"/>
              <a:buChar char="•"/>
            </a:pPr>
            <a:r>
              <a:rPr lang="en-US" sz="2100">
                <a:solidFill>
                  <a:srgbClr val="FFFFFF"/>
                </a:solidFill>
                <a:latin typeface="TT Hoves"/>
                <a:ea typeface="TT Hoves"/>
                <a:cs typeface="TT Hoves"/>
                <a:sym typeface="TT Hoves"/>
              </a:rPr>
              <a:t>Interativo: filtros por período e direção do erro, drill-down Ano→Trimestre→Mês→Dia</a:t>
            </a:r>
          </a:p>
          <a:p>
            <a:pPr algn="l">
              <a:lnSpc>
                <a:spcPts val="2940"/>
              </a:lnSpc>
            </a:pPr>
          </a:p>
        </p:txBody>
      </p:sp>
      <p:sp>
        <p:nvSpPr>
          <p:cNvPr name="TextBox 13" id="13"/>
          <p:cNvSpPr txBox="true"/>
          <p:nvPr/>
        </p:nvSpPr>
        <p:spPr>
          <a:xfrm rot="0">
            <a:off x="8635553" y="3159496"/>
            <a:ext cx="2850280" cy="11087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40"/>
              </a:lnSpc>
            </a:pPr>
            <a:r>
              <a:rPr lang="en-US" sz="2100">
                <a:solidFill>
                  <a:srgbClr val="75FF82"/>
                </a:solidFill>
                <a:latin typeface="TT Hoves"/>
                <a:ea typeface="TT Hoves"/>
                <a:cs typeface="TT Hoves"/>
                <a:sym typeface="TT Hoves"/>
              </a:rPr>
              <a:t>Medidas DAX, Linguagem M | Novas tabelas e colunas 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4004628" y="909637"/>
            <a:ext cx="3300850" cy="7372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40"/>
              </a:lnSpc>
            </a:pPr>
            <a:r>
              <a:rPr lang="en-US" sz="2100">
                <a:solidFill>
                  <a:srgbClr val="75FF82"/>
                </a:solidFill>
                <a:latin typeface="TT Hoves"/>
                <a:ea typeface="TT Hoves"/>
                <a:cs typeface="TT Hoves"/>
                <a:sym typeface="TT Hoves"/>
              </a:rPr>
              <a:t>Hierarquias, relacionamentos |  KPIs </a:t>
            </a: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41A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7088641" y="520211"/>
            <a:ext cx="762000" cy="640080"/>
          </a:xfrm>
          <a:custGeom>
            <a:avLst/>
            <a:gdLst/>
            <a:ahLst/>
            <a:cxnLst/>
            <a:rect r="r" b="b" t="t" l="l"/>
            <a:pathLst>
              <a:path h="640080" w="762000">
                <a:moveTo>
                  <a:pt x="0" y="0"/>
                </a:moveTo>
                <a:lnTo>
                  <a:pt x="762000" y="0"/>
                </a:lnTo>
                <a:lnTo>
                  <a:pt x="762000" y="640080"/>
                </a:lnTo>
                <a:lnTo>
                  <a:pt x="0" y="64008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4341672" y="2494392"/>
            <a:ext cx="4802328" cy="8115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719"/>
              </a:lnSpc>
            </a:pPr>
            <a:r>
              <a:rPr lang="en-US" sz="4800">
                <a:solidFill>
                  <a:srgbClr val="75FF82"/>
                </a:solidFill>
                <a:latin typeface="TT Hoves"/>
                <a:ea typeface="TT Hoves"/>
                <a:cs typeface="TT Hoves"/>
                <a:sym typeface="TT Hoves"/>
              </a:rPr>
              <a:t>Conclusão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2096577" y="4358662"/>
            <a:ext cx="8377317" cy="29660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53390" indent="-226695" lvl="1">
              <a:lnSpc>
                <a:spcPts val="2940"/>
              </a:lnSpc>
              <a:buFont typeface="Arial"/>
              <a:buChar char="•"/>
            </a:pPr>
            <a:r>
              <a:rPr lang="en-US" sz="2100">
                <a:solidFill>
                  <a:srgbClr val="FFFFFF"/>
                </a:solidFill>
                <a:latin typeface="TT Hoves"/>
                <a:ea typeface="TT Hoves"/>
                <a:cs typeface="TT Hoves"/>
                <a:sym typeface="TT Hoves"/>
              </a:rPr>
              <a:t>Objetivo cumprido: pipeline completo de regressão, do dado ao dashboard</a:t>
            </a:r>
          </a:p>
          <a:p>
            <a:pPr algn="l" marL="453390" indent="-226695" lvl="1">
              <a:lnSpc>
                <a:spcPts val="2940"/>
              </a:lnSpc>
              <a:buFont typeface="Arial"/>
              <a:buChar char="•"/>
            </a:pPr>
            <a:r>
              <a:rPr lang="en-US" sz="2100">
                <a:solidFill>
                  <a:srgbClr val="FFFFFF"/>
                </a:solidFill>
                <a:latin typeface="TT Hoves"/>
                <a:ea typeface="TT Hoves"/>
                <a:cs typeface="TT Hoves"/>
                <a:sym typeface="TT Hoves"/>
              </a:rPr>
              <a:t>Modelo captura tendência, mas tem limitações nos extremos</a:t>
            </a:r>
          </a:p>
          <a:p>
            <a:pPr algn="l" marL="453390" indent="-226695" lvl="1">
              <a:lnSpc>
                <a:spcPts val="2940"/>
              </a:lnSpc>
              <a:buFont typeface="Arial"/>
              <a:buChar char="•"/>
            </a:pPr>
            <a:r>
              <a:rPr lang="en-US" sz="2100">
                <a:solidFill>
                  <a:srgbClr val="FFFFFF"/>
                </a:solidFill>
                <a:latin typeface="TT Hoves"/>
                <a:ea typeface="TT Hoves"/>
                <a:cs typeface="TT Hoves"/>
                <a:sym typeface="TT Hoves"/>
              </a:rPr>
              <a:t>Aprendizados: CRISP-DM, Random Forest, integração Python + Power BI</a:t>
            </a:r>
          </a:p>
          <a:p>
            <a:pPr algn="l" marL="453390" indent="-226695" lvl="1">
              <a:lnSpc>
                <a:spcPts val="2940"/>
              </a:lnSpc>
              <a:buFont typeface="Arial"/>
              <a:buChar char="•"/>
            </a:pPr>
            <a:r>
              <a:rPr lang="en-US" sz="2100">
                <a:solidFill>
                  <a:srgbClr val="FFFFFF"/>
                </a:solidFill>
                <a:latin typeface="TT Hoves"/>
                <a:ea typeface="TT Hoves"/>
                <a:cs typeface="TT Hoves"/>
                <a:sym typeface="TT Hoves"/>
              </a:rPr>
              <a:t>Próximos passos: testar outras variáveis, modelos de série temporal, dados reais</a:t>
            </a:r>
          </a:p>
          <a:p>
            <a:pPr algn="l">
              <a:lnSpc>
                <a:spcPts val="2940"/>
              </a:lnSpc>
            </a:pPr>
          </a:p>
        </p:txBody>
      </p:sp>
      <p:sp>
        <p:nvSpPr>
          <p:cNvPr name="Freeform 5" id="5"/>
          <p:cNvSpPr/>
          <p:nvPr/>
        </p:nvSpPr>
        <p:spPr>
          <a:xfrm flipH="false" flipV="false" rot="-507067">
            <a:off x="12990717" y="-1114989"/>
            <a:ext cx="7042553" cy="7042553"/>
          </a:xfrm>
          <a:custGeom>
            <a:avLst/>
            <a:gdLst/>
            <a:ahLst/>
            <a:cxnLst/>
            <a:rect r="r" b="b" t="t" l="l"/>
            <a:pathLst>
              <a:path h="7042553" w="7042553">
                <a:moveTo>
                  <a:pt x="0" y="0"/>
                </a:moveTo>
                <a:lnTo>
                  <a:pt x="7042553" y="0"/>
                </a:lnTo>
                <a:lnTo>
                  <a:pt x="7042553" y="7042553"/>
                </a:lnTo>
                <a:lnTo>
                  <a:pt x="0" y="7042553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4442146" y="7445471"/>
            <a:ext cx="4491243" cy="1812829"/>
          </a:xfrm>
          <a:custGeom>
            <a:avLst/>
            <a:gdLst/>
            <a:ahLst/>
            <a:cxnLst/>
            <a:rect r="r" b="b" t="t" l="l"/>
            <a:pathLst>
              <a:path h="1812829" w="4491243">
                <a:moveTo>
                  <a:pt x="0" y="0"/>
                </a:moveTo>
                <a:lnTo>
                  <a:pt x="4491244" y="0"/>
                </a:lnTo>
                <a:lnTo>
                  <a:pt x="4491244" y="1812829"/>
                </a:lnTo>
                <a:lnTo>
                  <a:pt x="0" y="1812829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9222" r="0" b="-9222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1028700" y="1028700"/>
            <a:ext cx="16230600" cy="8229600"/>
            <a:chOff x="0" y="0"/>
            <a:chExt cx="4274726" cy="2167467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4274726" cy="2167467"/>
            </a:xfrm>
            <a:custGeom>
              <a:avLst/>
              <a:gdLst/>
              <a:ahLst/>
              <a:cxnLst/>
              <a:rect r="r" b="b" t="t" l="l"/>
              <a:pathLst>
                <a:path h="2167467" w="4274726">
                  <a:moveTo>
                    <a:pt x="17172" y="0"/>
                  </a:moveTo>
                  <a:lnTo>
                    <a:pt x="4257554" y="0"/>
                  </a:lnTo>
                  <a:cubicBezTo>
                    <a:pt x="4267038" y="0"/>
                    <a:pt x="4274726" y="7688"/>
                    <a:pt x="4274726" y="17172"/>
                  </a:cubicBezTo>
                  <a:lnTo>
                    <a:pt x="4274726" y="2150295"/>
                  </a:lnTo>
                  <a:cubicBezTo>
                    <a:pt x="4274726" y="2159779"/>
                    <a:pt x="4267038" y="2167467"/>
                    <a:pt x="4257554" y="2167467"/>
                  </a:cubicBezTo>
                  <a:lnTo>
                    <a:pt x="17172" y="2167467"/>
                  </a:lnTo>
                  <a:cubicBezTo>
                    <a:pt x="7688" y="2167467"/>
                    <a:pt x="0" y="2159779"/>
                    <a:pt x="0" y="2150295"/>
                  </a:cubicBezTo>
                  <a:lnTo>
                    <a:pt x="0" y="17172"/>
                  </a:lnTo>
                  <a:cubicBezTo>
                    <a:pt x="0" y="7688"/>
                    <a:pt x="7688" y="0"/>
                    <a:pt x="17172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000000">
                    <a:alpha val="70000"/>
                  </a:srgbClr>
                </a:gs>
                <a:gs pos="100000">
                  <a:srgbClr val="33CD91">
                    <a:alpha val="70000"/>
                  </a:srgbClr>
                </a:gs>
              </a:gsLst>
              <a:lin ang="0"/>
            </a:gradFill>
            <a:ln w="47625" cap="rnd">
              <a:solidFill>
                <a:srgbClr val="BEC2C7">
                  <a:alpha val="69804"/>
                </a:srgbClr>
              </a:solidFill>
              <a:prstDash val="solid"/>
              <a:round/>
            </a:ln>
          </p:spPr>
        </p:sp>
        <p:sp>
          <p:nvSpPr>
            <p:cNvPr name="TextBox 5" id="5"/>
            <p:cNvSpPr txBox="true"/>
            <p:nvPr/>
          </p:nvSpPr>
          <p:spPr>
            <a:xfrm>
              <a:off x="0" y="-47625"/>
              <a:ext cx="4274726" cy="221509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6" id="6"/>
          <p:cNvSpPr txBox="true"/>
          <p:nvPr/>
        </p:nvSpPr>
        <p:spPr>
          <a:xfrm rot="0">
            <a:off x="3238578" y="4341457"/>
            <a:ext cx="9357743" cy="174228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4218"/>
              </a:lnSpc>
            </a:pPr>
            <a:r>
              <a:rPr lang="en-US" sz="10156" b="true">
                <a:solidFill>
                  <a:srgbClr val="FFFFFF"/>
                </a:solidFill>
                <a:latin typeface="TT Hoves Bold"/>
                <a:ea typeface="TT Hoves Bold"/>
                <a:cs typeface="TT Hoves Bold"/>
                <a:sym typeface="TT Hoves Bold"/>
              </a:rPr>
              <a:t>Thanks!!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3642524" y="2037258"/>
            <a:ext cx="3555051" cy="6958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04"/>
              </a:lnSpc>
            </a:pPr>
            <a:r>
              <a:rPr lang="en-US" sz="2002" spc="52">
                <a:solidFill>
                  <a:srgbClr val="FFFFFF"/>
                </a:solidFill>
                <a:latin typeface="TT Hoves"/>
                <a:ea typeface="TT Hoves"/>
                <a:cs typeface="TT Hoves"/>
                <a:sym typeface="TT Hoves"/>
              </a:rPr>
              <a:t>Grupo CTRL ALT DELAS</a:t>
            </a:r>
          </a:p>
          <a:p>
            <a:pPr algn="l">
              <a:lnSpc>
                <a:spcPts val="2804"/>
              </a:lnSpc>
            </a:pPr>
          </a:p>
        </p:txBody>
      </p:sp>
      <p:sp>
        <p:nvSpPr>
          <p:cNvPr name="AutoShape 8" id="8"/>
          <p:cNvSpPr/>
          <p:nvPr/>
        </p:nvSpPr>
        <p:spPr>
          <a:xfrm>
            <a:off x="2261281" y="7781528"/>
            <a:ext cx="13765437" cy="0"/>
          </a:xfrm>
          <a:prstGeom prst="line">
            <a:avLst/>
          </a:prstGeom>
          <a:ln cap="flat" w="19050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9" id="9"/>
          <p:cNvSpPr/>
          <p:nvPr/>
        </p:nvSpPr>
        <p:spPr>
          <a:xfrm flipH="false" flipV="false" rot="0">
            <a:off x="2598831" y="1764147"/>
            <a:ext cx="762000" cy="640080"/>
          </a:xfrm>
          <a:custGeom>
            <a:avLst/>
            <a:gdLst/>
            <a:ahLst/>
            <a:cxnLst/>
            <a:rect r="r" b="b" t="t" l="l"/>
            <a:pathLst>
              <a:path h="640080" w="762000">
                <a:moveTo>
                  <a:pt x="0" y="0"/>
                </a:moveTo>
                <a:lnTo>
                  <a:pt x="762000" y="0"/>
                </a:lnTo>
                <a:lnTo>
                  <a:pt x="762000" y="640080"/>
                </a:lnTo>
                <a:lnTo>
                  <a:pt x="0" y="64008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DAHLhFr8qwY</dc:identifier>
  <dcterms:modified xsi:type="dcterms:W3CDTF">2011-08-01T06:04:30Z</dcterms:modified>
  <cp:revision>1</cp:revision>
  <dc:title>Apresentação - Previsão do Câmbio USD/BRL - CTRLALTDELAS_atzd</dc:title>
</cp:coreProperties>
</file>